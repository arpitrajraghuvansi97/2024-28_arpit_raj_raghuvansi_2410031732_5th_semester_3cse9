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Loss</c:v>
                </c:pt>
              </c:strCache>
            </c:strRef>
          </c:tx>
          <c:spPr>
            <a:solidFill>
              <a:srgbClr val="3D2645"/>
            </a:solidFill>
            <a:ln w="31750" cap="flat">
              <a:solidFill>
                <a:srgbClr val="3D26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3D2645"/>
              </a:solidFill>
              <a:ln w="9525" cap="flat">
                <a:solidFill>
                  <a:srgbClr val="3D2645"/>
                </a:solidFill>
                <a:prstDash val="solid"/>
                <a:round/>
              </a:ln>
              <a:effectLst/>
            </c:spPr>
          </c:marker>
          <c:cat>
            <c:multiLvlStrRef>
              <c:f>Sheet1!$A$2:$A$10</c:f>
              <c:multiLvlStrCache>
                <c:ptCount val="9"/>
                <c:lvl>
                  <c:pt idx="0">
                    <c:v>1</c:v>
                  </c:pt>
                  <c:pt idx="1">
                    <c:v>5</c:v>
                  </c:pt>
                  <c:pt idx="2">
                    <c:v>10</c:v>
                  </c:pt>
                  <c:pt idx="3">
                    <c:v>15</c:v>
                  </c:pt>
                  <c:pt idx="4">
                    <c:v>20</c:v>
                  </c:pt>
                  <c:pt idx="5">
                    <c:v>25</c:v>
                  </c:pt>
                  <c:pt idx="6">
                    <c:v>30</c:v>
                  </c:pt>
                  <c:pt idx="7">
                    <c:v>35</c:v>
                  </c:pt>
                  <c:pt idx="8">
                    <c:v>40</c:v>
                  </c:pt>
                </c:lvl>
              </c:multiLvlStrCache>
            </c:multiLvlStrRef>
          </c:cat>
          <c:val>
            <c:numRef>
              <c:f>Sheet1!$B$2:$B$10</c:f>
              <c:numCache>
                <c:formatCode>General</c:formatCode>
                <c:ptCount val="9"/>
                <c:pt idx="0">
                  <c:v>0.92</c:v>
                </c:pt>
                <c:pt idx="1">
                  <c:v>0.71</c:v>
                </c:pt>
                <c:pt idx="2">
                  <c:v>0.55</c:v>
                </c:pt>
                <c:pt idx="3">
                  <c:v>0.42</c:v>
                </c:pt>
                <c:pt idx="4">
                  <c:v>0.33</c:v>
                </c:pt>
                <c:pt idx="5">
                  <c:v>0.27</c:v>
                </c:pt>
                <c:pt idx="6">
                  <c:v>0.22</c:v>
                </c:pt>
                <c:pt idx="7">
                  <c:v>0.19</c:v>
                </c:pt>
                <c:pt idx="8">
                  <c:v>0.17</c:v>
                </c:pt>
              </c:numCache>
            </c:numRef>
          </c:val>
          <c:smooth val="0"/>
        </c:ser>
        <c:ser>
          <c:idx val="1"/>
          <c:order val="1"/>
          <c:tx>
            <c:strRef>
              <c:f>Sheet1!$C$1</c:f>
              <c:strCache>
                <c:ptCount val="1"/>
                <c:pt idx="0">
                  <c:v>Accuracy</c:v>
                </c:pt>
              </c:strCache>
            </c:strRef>
          </c:tx>
          <c:spPr>
            <a:solidFill>
              <a:srgbClr val="C9932E"/>
            </a:solidFill>
            <a:ln w="31750" cap="flat">
              <a:solidFill>
                <a:srgbClr val="C993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9932E"/>
              </a:solidFill>
              <a:ln w="9525" cap="flat">
                <a:solidFill>
                  <a:srgbClr val="C9932E"/>
                </a:solidFill>
                <a:prstDash val="solid"/>
                <a:round/>
              </a:ln>
              <a:effectLst/>
            </c:spPr>
          </c:marker>
          <c:cat>
            <c:multiLvlStrRef>
              <c:f>Sheet1!$A$2:$A$10</c:f>
              <c:multiLvlStrCache>
                <c:ptCount val="9"/>
                <c:lvl>
                  <c:pt idx="0">
                    <c:v>1</c:v>
                  </c:pt>
                  <c:pt idx="1">
                    <c:v>5</c:v>
                  </c:pt>
                  <c:pt idx="2">
                    <c:v>10</c:v>
                  </c:pt>
                  <c:pt idx="3">
                    <c:v>15</c:v>
                  </c:pt>
                  <c:pt idx="4">
                    <c:v>20</c:v>
                  </c:pt>
                  <c:pt idx="5">
                    <c:v>25</c:v>
                  </c:pt>
                  <c:pt idx="6">
                    <c:v>30</c:v>
                  </c:pt>
                  <c:pt idx="7">
                    <c:v>35</c:v>
                  </c:pt>
                  <c:pt idx="8">
                    <c:v>40</c:v>
                  </c:pt>
                </c:lvl>
              </c:multiLvlStrCache>
            </c:multiLvlStrRef>
          </c:cat>
          <c:val>
            <c:numRef>
              <c:f>Sheet1!$C$2:$C$10</c:f>
              <c:numCache>
                <c:formatCode>General</c:formatCode>
                <c:ptCount val="9"/>
                <c:pt idx="0">
                  <c:v>0.42</c:v>
                </c:pt>
                <c:pt idx="1">
                  <c:v>0.58</c:v>
                </c:pt>
                <c:pt idx="2">
                  <c:v>0.68</c:v>
                </c:pt>
                <c:pt idx="3">
                  <c:v>0.76</c:v>
                </c:pt>
                <c:pt idx="4">
                  <c:v>0.82</c:v>
                </c:pt>
                <c:pt idx="5">
                  <c:v>0.86</c:v>
                </c:pt>
                <c:pt idx="6">
                  <c:v>0.89</c:v>
                </c:pt>
                <c:pt idx="7">
                  <c:v>0.91</c:v>
                </c:pt>
                <c:pt idx="8">
                  <c:v>0.93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F6774"/>
                    </a:solidFill>
                    <a:latin typeface="Arial"/>
                  </a:defRPr>
                </a:pPr>
                <a:r>
                  <a:rPr sz="1000" b="0" i="0" u="none" strike="noStrike">
                    <a:solidFill>
                      <a:srgbClr val="6F6774"/>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F6774"/>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677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62229"/>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645"/>
        </a:solidFill>
      </p:bgPr>
    </p:bg>
    <p:spTree>
      <p:nvGrpSpPr>
        <p:cNvPr id="1" name=""/>
        <p:cNvGrpSpPr/>
        <p:nvPr/>
      </p:nvGrpSpPr>
      <p:grpSpPr>
        <a:xfrm>
          <a:off x="0" y="0"/>
          <a:ext cx="0" cy="0"/>
          <a:chOff x="0" y="0"/>
          <a:chExt cx="0" cy="0"/>
        </a:xfrm>
      </p:grpSpPr>
      <p:sp>
        <p:nvSpPr>
          <p:cNvPr id="2" name="Shape 0"/>
          <p:cNvSpPr/>
          <p:nvPr/>
        </p:nvSpPr>
        <p:spPr>
          <a:xfrm flipV="1">
            <a:off x="9015984" y="424282"/>
            <a:ext cx="877824" cy="380390"/>
          </a:xfrm>
          <a:prstGeom prst="line">
            <a:avLst/>
          </a:prstGeom>
          <a:noFill/>
          <a:ln w="9525">
            <a:solidFill>
              <a:srgbClr val="E8C978">
                <a:alpha val="70000"/>
              </a:srgbClr>
            </a:solidFill>
            <a:prstDash val="solid"/>
          </a:ln>
        </p:spPr>
      </p:sp>
      <p:sp>
        <p:nvSpPr>
          <p:cNvPr id="3" name="Shape 1"/>
          <p:cNvSpPr/>
          <p:nvPr/>
        </p:nvSpPr>
        <p:spPr>
          <a:xfrm>
            <a:off x="9893808" y="424282"/>
            <a:ext cx="1024128" cy="526694"/>
          </a:xfrm>
          <a:prstGeom prst="line">
            <a:avLst/>
          </a:prstGeom>
          <a:noFill/>
          <a:ln w="9525">
            <a:solidFill>
              <a:srgbClr val="E8C978">
                <a:alpha val="70000"/>
              </a:srgbClr>
            </a:solidFill>
            <a:prstDash val="solid"/>
          </a:ln>
        </p:spPr>
      </p:sp>
      <p:sp>
        <p:nvSpPr>
          <p:cNvPr id="4" name="Shape 2"/>
          <p:cNvSpPr/>
          <p:nvPr/>
        </p:nvSpPr>
        <p:spPr>
          <a:xfrm flipV="1">
            <a:off x="10917936" y="512064"/>
            <a:ext cx="585216" cy="438912"/>
          </a:xfrm>
          <a:prstGeom prst="line">
            <a:avLst/>
          </a:prstGeom>
          <a:noFill/>
          <a:ln w="9525">
            <a:solidFill>
              <a:srgbClr val="E8C978">
                <a:alpha val="70000"/>
              </a:srgbClr>
            </a:solidFill>
            <a:prstDash val="solid"/>
          </a:ln>
        </p:spPr>
      </p:sp>
      <p:sp>
        <p:nvSpPr>
          <p:cNvPr id="5" name="Shape 3"/>
          <p:cNvSpPr/>
          <p:nvPr/>
        </p:nvSpPr>
        <p:spPr>
          <a:xfrm>
            <a:off x="9015984" y="804672"/>
            <a:ext cx="292608" cy="1170432"/>
          </a:xfrm>
          <a:prstGeom prst="line">
            <a:avLst/>
          </a:prstGeom>
          <a:noFill/>
          <a:ln w="9525">
            <a:solidFill>
              <a:srgbClr val="E8C978">
                <a:alpha val="70000"/>
              </a:srgbClr>
            </a:solidFill>
            <a:prstDash val="solid"/>
          </a:ln>
        </p:spPr>
      </p:sp>
      <p:sp>
        <p:nvSpPr>
          <p:cNvPr id="6" name="Shape 4"/>
          <p:cNvSpPr/>
          <p:nvPr/>
        </p:nvSpPr>
        <p:spPr>
          <a:xfrm>
            <a:off x="9893808" y="424282"/>
            <a:ext cx="438912" cy="1258214"/>
          </a:xfrm>
          <a:prstGeom prst="line">
            <a:avLst/>
          </a:prstGeom>
          <a:noFill/>
          <a:ln w="9525">
            <a:solidFill>
              <a:srgbClr val="E8C978">
                <a:alpha val="70000"/>
              </a:srgbClr>
            </a:solidFill>
            <a:prstDash val="solid"/>
          </a:ln>
        </p:spPr>
      </p:sp>
      <p:sp>
        <p:nvSpPr>
          <p:cNvPr id="7" name="Shape 5"/>
          <p:cNvSpPr/>
          <p:nvPr/>
        </p:nvSpPr>
        <p:spPr>
          <a:xfrm flipH="1">
            <a:off x="10332720" y="950976"/>
            <a:ext cx="585216" cy="731520"/>
          </a:xfrm>
          <a:prstGeom prst="line">
            <a:avLst/>
          </a:prstGeom>
          <a:noFill/>
          <a:ln w="9525">
            <a:solidFill>
              <a:srgbClr val="E8C978">
                <a:alpha val="70000"/>
              </a:srgbClr>
            </a:solidFill>
            <a:prstDash val="solid"/>
          </a:ln>
        </p:spPr>
      </p:sp>
      <p:sp>
        <p:nvSpPr>
          <p:cNvPr id="8" name="Shape 6"/>
          <p:cNvSpPr/>
          <p:nvPr/>
        </p:nvSpPr>
        <p:spPr>
          <a:xfrm flipH="1">
            <a:off x="11356848" y="512064"/>
            <a:ext cx="146304" cy="1316736"/>
          </a:xfrm>
          <a:prstGeom prst="line">
            <a:avLst/>
          </a:prstGeom>
          <a:noFill/>
          <a:ln w="9525">
            <a:solidFill>
              <a:srgbClr val="E8C978">
                <a:alpha val="70000"/>
              </a:srgbClr>
            </a:solidFill>
            <a:prstDash val="solid"/>
          </a:ln>
        </p:spPr>
      </p:sp>
      <p:sp>
        <p:nvSpPr>
          <p:cNvPr id="9" name="Shape 7"/>
          <p:cNvSpPr/>
          <p:nvPr/>
        </p:nvSpPr>
        <p:spPr>
          <a:xfrm flipV="1">
            <a:off x="9308592" y="1682496"/>
            <a:ext cx="1024128" cy="292608"/>
          </a:xfrm>
          <a:prstGeom prst="line">
            <a:avLst/>
          </a:prstGeom>
          <a:noFill/>
          <a:ln w="9525">
            <a:solidFill>
              <a:srgbClr val="E8C978">
                <a:alpha val="70000"/>
              </a:srgbClr>
            </a:solidFill>
            <a:prstDash val="solid"/>
          </a:ln>
        </p:spPr>
      </p:sp>
      <p:sp>
        <p:nvSpPr>
          <p:cNvPr id="10" name="Shape 8"/>
          <p:cNvSpPr/>
          <p:nvPr/>
        </p:nvSpPr>
        <p:spPr>
          <a:xfrm>
            <a:off x="10332720" y="1682496"/>
            <a:ext cx="1024128" cy="146304"/>
          </a:xfrm>
          <a:prstGeom prst="line">
            <a:avLst/>
          </a:prstGeom>
          <a:noFill/>
          <a:ln w="9525">
            <a:solidFill>
              <a:srgbClr val="E8C978">
                <a:alpha val="70000"/>
              </a:srgbClr>
            </a:solidFill>
            <a:prstDash val="solid"/>
          </a:ln>
        </p:spPr>
      </p:sp>
      <p:sp>
        <p:nvSpPr>
          <p:cNvPr id="11" name="Shape 9"/>
          <p:cNvSpPr/>
          <p:nvPr/>
        </p:nvSpPr>
        <p:spPr>
          <a:xfrm>
            <a:off x="9308592" y="1975104"/>
            <a:ext cx="438912" cy="877824"/>
          </a:xfrm>
          <a:prstGeom prst="line">
            <a:avLst/>
          </a:prstGeom>
          <a:noFill/>
          <a:ln w="9525">
            <a:solidFill>
              <a:srgbClr val="E8C978">
                <a:alpha val="70000"/>
              </a:srgbClr>
            </a:solidFill>
            <a:prstDash val="solid"/>
          </a:ln>
        </p:spPr>
      </p:sp>
      <p:sp>
        <p:nvSpPr>
          <p:cNvPr id="12" name="Shape 10"/>
          <p:cNvSpPr/>
          <p:nvPr/>
        </p:nvSpPr>
        <p:spPr>
          <a:xfrm>
            <a:off x="10332720" y="1682496"/>
            <a:ext cx="438912" cy="1316736"/>
          </a:xfrm>
          <a:prstGeom prst="line">
            <a:avLst/>
          </a:prstGeom>
          <a:noFill/>
          <a:ln w="9525">
            <a:solidFill>
              <a:srgbClr val="E8C978">
                <a:alpha val="70000"/>
              </a:srgbClr>
            </a:solidFill>
            <a:prstDash val="solid"/>
          </a:ln>
        </p:spPr>
      </p:sp>
      <p:sp>
        <p:nvSpPr>
          <p:cNvPr id="13" name="Shape 11"/>
          <p:cNvSpPr/>
          <p:nvPr/>
        </p:nvSpPr>
        <p:spPr>
          <a:xfrm flipH="1">
            <a:off x="10771632" y="1828800"/>
            <a:ext cx="585216" cy="1170432"/>
          </a:xfrm>
          <a:prstGeom prst="line">
            <a:avLst/>
          </a:prstGeom>
          <a:noFill/>
          <a:ln w="9525">
            <a:solidFill>
              <a:srgbClr val="E8C978">
                <a:alpha val="70000"/>
              </a:srgbClr>
            </a:solidFill>
            <a:prstDash val="solid"/>
          </a:ln>
        </p:spPr>
      </p:sp>
      <p:sp>
        <p:nvSpPr>
          <p:cNvPr id="14" name="Shape 12"/>
          <p:cNvSpPr/>
          <p:nvPr/>
        </p:nvSpPr>
        <p:spPr>
          <a:xfrm>
            <a:off x="9747504" y="2852928"/>
            <a:ext cx="1024128" cy="146304"/>
          </a:xfrm>
          <a:prstGeom prst="line">
            <a:avLst/>
          </a:prstGeom>
          <a:noFill/>
          <a:ln w="9525">
            <a:solidFill>
              <a:srgbClr val="E8C978">
                <a:alpha val="70000"/>
              </a:srgbClr>
            </a:solidFill>
            <a:prstDash val="solid"/>
          </a:ln>
        </p:spPr>
      </p:sp>
      <p:sp>
        <p:nvSpPr>
          <p:cNvPr id="15" name="Shape 13"/>
          <p:cNvSpPr/>
          <p:nvPr/>
        </p:nvSpPr>
        <p:spPr>
          <a:xfrm>
            <a:off x="8974836" y="763524"/>
            <a:ext cx="82296" cy="82296"/>
          </a:xfrm>
          <a:prstGeom prst="ellipse">
            <a:avLst/>
          </a:prstGeom>
          <a:solidFill>
            <a:srgbClr val="E8C978"/>
          </a:solidFill>
          <a:ln/>
        </p:spPr>
      </p:sp>
      <p:sp>
        <p:nvSpPr>
          <p:cNvPr id="16" name="Shape 14"/>
          <p:cNvSpPr/>
          <p:nvPr/>
        </p:nvSpPr>
        <p:spPr>
          <a:xfrm>
            <a:off x="9852660" y="383134"/>
            <a:ext cx="82296" cy="82296"/>
          </a:xfrm>
          <a:prstGeom prst="ellipse">
            <a:avLst/>
          </a:prstGeom>
          <a:solidFill>
            <a:srgbClr val="E8C978"/>
          </a:solidFill>
          <a:ln/>
        </p:spPr>
      </p:sp>
      <p:sp>
        <p:nvSpPr>
          <p:cNvPr id="17" name="Shape 15"/>
          <p:cNvSpPr/>
          <p:nvPr/>
        </p:nvSpPr>
        <p:spPr>
          <a:xfrm>
            <a:off x="10876788" y="909828"/>
            <a:ext cx="82296" cy="82296"/>
          </a:xfrm>
          <a:prstGeom prst="ellipse">
            <a:avLst/>
          </a:prstGeom>
          <a:solidFill>
            <a:srgbClr val="E8C978"/>
          </a:solidFill>
          <a:ln/>
        </p:spPr>
      </p:sp>
      <p:sp>
        <p:nvSpPr>
          <p:cNvPr id="18" name="Shape 16"/>
          <p:cNvSpPr/>
          <p:nvPr/>
        </p:nvSpPr>
        <p:spPr>
          <a:xfrm>
            <a:off x="11462004" y="470916"/>
            <a:ext cx="82296" cy="82296"/>
          </a:xfrm>
          <a:prstGeom prst="ellipse">
            <a:avLst/>
          </a:prstGeom>
          <a:solidFill>
            <a:srgbClr val="E8C978"/>
          </a:solidFill>
          <a:ln/>
        </p:spPr>
      </p:sp>
      <p:sp>
        <p:nvSpPr>
          <p:cNvPr id="19" name="Shape 17"/>
          <p:cNvSpPr/>
          <p:nvPr/>
        </p:nvSpPr>
        <p:spPr>
          <a:xfrm>
            <a:off x="9267444" y="1933956"/>
            <a:ext cx="82296" cy="82296"/>
          </a:xfrm>
          <a:prstGeom prst="ellipse">
            <a:avLst/>
          </a:prstGeom>
          <a:solidFill>
            <a:srgbClr val="E8C978"/>
          </a:solidFill>
          <a:ln/>
        </p:spPr>
      </p:sp>
      <p:sp>
        <p:nvSpPr>
          <p:cNvPr id="20" name="Shape 18"/>
          <p:cNvSpPr/>
          <p:nvPr/>
        </p:nvSpPr>
        <p:spPr>
          <a:xfrm>
            <a:off x="10291572" y="1641348"/>
            <a:ext cx="82296" cy="82296"/>
          </a:xfrm>
          <a:prstGeom prst="ellipse">
            <a:avLst/>
          </a:prstGeom>
          <a:solidFill>
            <a:srgbClr val="E8C978"/>
          </a:solidFill>
          <a:ln/>
        </p:spPr>
      </p:sp>
      <p:sp>
        <p:nvSpPr>
          <p:cNvPr id="21" name="Shape 19"/>
          <p:cNvSpPr/>
          <p:nvPr/>
        </p:nvSpPr>
        <p:spPr>
          <a:xfrm>
            <a:off x="11315700" y="1787652"/>
            <a:ext cx="82296" cy="82296"/>
          </a:xfrm>
          <a:prstGeom prst="ellipse">
            <a:avLst/>
          </a:prstGeom>
          <a:solidFill>
            <a:srgbClr val="E8C978"/>
          </a:solidFill>
          <a:ln/>
        </p:spPr>
      </p:sp>
      <p:sp>
        <p:nvSpPr>
          <p:cNvPr id="22" name="Shape 20"/>
          <p:cNvSpPr/>
          <p:nvPr/>
        </p:nvSpPr>
        <p:spPr>
          <a:xfrm>
            <a:off x="9706356" y="2811780"/>
            <a:ext cx="82296" cy="82296"/>
          </a:xfrm>
          <a:prstGeom prst="ellipse">
            <a:avLst/>
          </a:prstGeom>
          <a:solidFill>
            <a:srgbClr val="E8C978"/>
          </a:solidFill>
          <a:ln/>
        </p:spPr>
      </p:sp>
      <p:sp>
        <p:nvSpPr>
          <p:cNvPr id="23" name="Shape 21"/>
          <p:cNvSpPr/>
          <p:nvPr/>
        </p:nvSpPr>
        <p:spPr>
          <a:xfrm>
            <a:off x="10730484" y="2958084"/>
            <a:ext cx="82296" cy="82296"/>
          </a:xfrm>
          <a:prstGeom prst="ellipse">
            <a:avLst/>
          </a:prstGeom>
          <a:solidFill>
            <a:srgbClr val="E8C978"/>
          </a:solidFill>
          <a:ln/>
        </p:spPr>
      </p:sp>
      <p:pic>
        <p:nvPicPr>
          <p:cNvPr id="24" name="Image 0" descr="/home/claude/work/assets/logo.png">    </p:cNvPr>
          <p:cNvPicPr>
            <a:picLocks noChangeAspect="1"/>
          </p:cNvPicPr>
          <p:nvPr/>
        </p:nvPicPr>
        <p:blipFill>
          <a:blip r:embed="rId1"/>
          <a:stretch>
            <a:fillRect/>
          </a:stretch>
        </p:blipFill>
        <p:spPr>
          <a:xfrm>
            <a:off x="548640" y="457200"/>
            <a:ext cx="457200" cy="530352"/>
          </a:xfrm>
          <a:prstGeom prst="rect">
            <a:avLst/>
          </a:prstGeom>
        </p:spPr>
      </p:pic>
      <p:sp>
        <p:nvSpPr>
          <p:cNvPr id="25" name="Text 22"/>
          <p:cNvSpPr txBox="1"/>
          <p:nvPr/>
        </p:nvSpPr>
        <p:spPr>
          <a:xfrm>
            <a:off x="1143000" y="457200"/>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IILM UNIVERSITY</a:t>
            </a:r>
            <a:endParaRPr lang="en-US" sz="1300" dirty="0"/>
          </a:p>
        </p:txBody>
      </p:sp>
      <p:sp>
        <p:nvSpPr>
          <p:cNvPr id="26" name="Text 23"/>
          <p:cNvSpPr txBox="1"/>
          <p:nvPr/>
        </p:nvSpPr>
        <p:spPr>
          <a:xfrm>
            <a:off x="1143000" y="731520"/>
            <a:ext cx="4572000" cy="237744"/>
          </a:xfrm>
          <a:prstGeom prst="rect">
            <a:avLst/>
          </a:prstGeom>
          <a:noFill/>
          <a:ln/>
        </p:spPr>
        <p:txBody>
          <a:bodyPr wrap="square" lIns="0" tIns="0" rIns="0" bIns="0" rtlCol="0" anchor="ctr"/>
          <a:lstStyle/>
          <a:p>
            <a:pPr indent="0" marL="0">
              <a:buNone/>
            </a:pPr>
            <a:r>
              <a:rPr lang="en-US" sz="1000" dirty="0">
                <a:solidFill>
                  <a:srgbClr val="C9B9CE"/>
                </a:solidFill>
                <a:latin typeface="Calibri" pitchFamily="34" charset="0"/>
                <a:ea typeface="Calibri" pitchFamily="34" charset="-122"/>
                <a:cs typeface="Calibri" pitchFamily="34" charset="-120"/>
              </a:rPr>
              <a:t>Greater Noida, Uttar Pradesh</a:t>
            </a:r>
            <a:endParaRPr lang="en-US" sz="1000" dirty="0"/>
          </a:p>
        </p:txBody>
      </p:sp>
      <p:sp>
        <p:nvSpPr>
          <p:cNvPr id="27" name="Text 24"/>
          <p:cNvSpPr txBox="1"/>
          <p:nvPr/>
        </p:nvSpPr>
        <p:spPr>
          <a:xfrm>
            <a:off x="548640" y="2331720"/>
            <a:ext cx="8229600" cy="320040"/>
          </a:xfrm>
          <a:prstGeom prst="rect">
            <a:avLst/>
          </a:prstGeom>
          <a:noFill/>
          <a:ln/>
        </p:spPr>
        <p:txBody>
          <a:bodyPr wrap="square" lIns="0" tIns="0" rIns="0" bIns="0" rtlCol="0" anchor="ctr"/>
          <a:lstStyle/>
          <a:p>
            <a:pPr indent="0" marL="0">
              <a:buNone/>
            </a:pPr>
            <a:r>
              <a:rPr lang="en-US" sz="1300" b="1" spc="200" kern="0" dirty="0">
                <a:solidFill>
                  <a:srgbClr val="C9932E"/>
                </a:solidFill>
                <a:latin typeface="Calibri" pitchFamily="34" charset="0"/>
                <a:ea typeface="Calibri" pitchFamily="34" charset="-122"/>
                <a:cs typeface="Calibri" pitchFamily="34" charset="-120"/>
              </a:rPr>
              <a:t>INTERNSHIP EVALUATION PRESENTATION</a:t>
            </a:r>
            <a:endParaRPr lang="en-US" sz="1300" dirty="0"/>
          </a:p>
        </p:txBody>
      </p:sp>
      <p:sp>
        <p:nvSpPr>
          <p:cNvPr id="28" name="Text 25"/>
          <p:cNvSpPr txBox="1"/>
          <p:nvPr/>
        </p:nvSpPr>
        <p:spPr>
          <a:xfrm>
            <a:off x="530352" y="2697480"/>
            <a:ext cx="9601200" cy="1737360"/>
          </a:xfrm>
          <a:prstGeom prst="rect">
            <a:avLst/>
          </a:prstGeom>
          <a:noFill/>
          <a:ln/>
        </p:spPr>
        <p:txBody>
          <a:bodyPr wrap="square" lIns="0" tIns="0" rIns="0" bIns="0" rtlCol="0" anchor="ctr"/>
          <a:lstStyle/>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Artificial Neural Network</a:t>
            </a:r>
            <a:endParaRPr lang="en-US" sz="4400" dirty="0"/>
          </a:p>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and its Application</a:t>
            </a:r>
            <a:endParaRPr lang="en-US" sz="4400" dirty="0"/>
          </a:p>
        </p:txBody>
      </p:sp>
      <p:sp>
        <p:nvSpPr>
          <p:cNvPr id="29" name="Shape 26"/>
          <p:cNvSpPr/>
          <p:nvPr/>
        </p:nvSpPr>
        <p:spPr>
          <a:xfrm>
            <a:off x="548640" y="5074920"/>
            <a:ext cx="2606040" cy="914400"/>
          </a:xfrm>
          <a:prstGeom prst="rect">
            <a:avLst/>
          </a:prstGeom>
          <a:solidFill>
            <a:srgbClr val="2A1930"/>
          </a:solidFill>
          <a:ln w="9525">
            <a:solidFill>
              <a:srgbClr val="5A3E63"/>
            </a:solidFill>
            <a:prstDash val="solid"/>
          </a:ln>
        </p:spPr>
      </p:sp>
      <p:sp>
        <p:nvSpPr>
          <p:cNvPr id="30" name="Text 27"/>
          <p:cNvSpPr txBox="1"/>
          <p:nvPr/>
        </p:nvSpPr>
        <p:spPr>
          <a:xfrm>
            <a:off x="694944" y="5184648"/>
            <a:ext cx="2313432" cy="228600"/>
          </a:xfrm>
          <a:prstGeom prst="rect">
            <a:avLst/>
          </a:prstGeom>
          <a:noFill/>
          <a:ln/>
        </p:spPr>
        <p:txBody>
          <a:bodyPr wrap="square" lIns="0" tIns="0" rIns="0" bIns="0" rtlCol="0" anchor="ctr"/>
          <a:lstStyle/>
          <a:p>
            <a:pPr indent="0" marL="0">
              <a:buNone/>
            </a:pPr>
            <a:r>
              <a:rPr lang="en-US" sz="900" b="1" spc="100" kern="0" dirty="0">
                <a:solidFill>
                  <a:srgbClr val="C9932E"/>
                </a:solidFill>
                <a:latin typeface="Calibri" pitchFamily="34" charset="0"/>
                <a:ea typeface="Calibri" pitchFamily="34" charset="-122"/>
                <a:cs typeface="Calibri" pitchFamily="34" charset="-120"/>
              </a:rPr>
              <a:t>STUDENT</a:t>
            </a:r>
            <a:endParaRPr lang="en-US" sz="900" dirty="0"/>
          </a:p>
        </p:txBody>
      </p:sp>
      <p:sp>
        <p:nvSpPr>
          <p:cNvPr id="31" name="Text 28"/>
          <p:cNvSpPr txBox="1"/>
          <p:nvPr/>
        </p:nvSpPr>
        <p:spPr>
          <a:xfrm>
            <a:off x="694944" y="5440680"/>
            <a:ext cx="2313432"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Arpit Raj Raghuvansi</a:t>
            </a:r>
            <a:endParaRPr lang="en-US" sz="1150" dirty="0"/>
          </a:p>
        </p:txBody>
      </p:sp>
      <p:sp>
        <p:nvSpPr>
          <p:cNvPr id="32" name="Shape 29"/>
          <p:cNvSpPr/>
          <p:nvPr/>
        </p:nvSpPr>
        <p:spPr>
          <a:xfrm>
            <a:off x="3355848" y="5074920"/>
            <a:ext cx="2606040" cy="914400"/>
          </a:xfrm>
          <a:prstGeom prst="rect">
            <a:avLst/>
          </a:prstGeom>
          <a:solidFill>
            <a:srgbClr val="2A1930"/>
          </a:solidFill>
          <a:ln w="9525">
            <a:solidFill>
              <a:srgbClr val="5A3E63"/>
            </a:solidFill>
            <a:prstDash val="solid"/>
          </a:ln>
        </p:spPr>
      </p:sp>
      <p:sp>
        <p:nvSpPr>
          <p:cNvPr id="33" name="Text 30"/>
          <p:cNvSpPr txBox="1"/>
          <p:nvPr/>
        </p:nvSpPr>
        <p:spPr>
          <a:xfrm>
            <a:off x="3502152" y="5184648"/>
            <a:ext cx="2313432" cy="228600"/>
          </a:xfrm>
          <a:prstGeom prst="rect">
            <a:avLst/>
          </a:prstGeom>
          <a:noFill/>
          <a:ln/>
        </p:spPr>
        <p:txBody>
          <a:bodyPr wrap="square" lIns="0" tIns="0" rIns="0" bIns="0" rtlCol="0" anchor="ctr"/>
          <a:lstStyle/>
          <a:p>
            <a:pPr indent="0" marL="0">
              <a:buNone/>
            </a:pPr>
            <a:r>
              <a:rPr lang="en-US" sz="900" b="1" spc="100" kern="0" dirty="0">
                <a:solidFill>
                  <a:srgbClr val="C9932E"/>
                </a:solidFill>
                <a:latin typeface="Calibri" pitchFamily="34" charset="0"/>
                <a:ea typeface="Calibri" pitchFamily="34" charset="-122"/>
                <a:cs typeface="Calibri" pitchFamily="34" charset="-120"/>
              </a:rPr>
              <a:t>ENROLLMENT NO.</a:t>
            </a:r>
            <a:endParaRPr lang="en-US" sz="900" dirty="0"/>
          </a:p>
        </p:txBody>
      </p:sp>
      <p:sp>
        <p:nvSpPr>
          <p:cNvPr id="34" name="Text 31"/>
          <p:cNvSpPr txBox="1"/>
          <p:nvPr/>
        </p:nvSpPr>
        <p:spPr>
          <a:xfrm>
            <a:off x="3502152" y="5440680"/>
            <a:ext cx="2313432"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2410031732</a:t>
            </a:r>
            <a:endParaRPr lang="en-US" sz="1150" dirty="0"/>
          </a:p>
        </p:txBody>
      </p:sp>
      <p:sp>
        <p:nvSpPr>
          <p:cNvPr id="35" name="Shape 32"/>
          <p:cNvSpPr/>
          <p:nvPr/>
        </p:nvSpPr>
        <p:spPr>
          <a:xfrm>
            <a:off x="6163056" y="5074920"/>
            <a:ext cx="2606040" cy="914400"/>
          </a:xfrm>
          <a:prstGeom prst="rect">
            <a:avLst/>
          </a:prstGeom>
          <a:solidFill>
            <a:srgbClr val="2A1930"/>
          </a:solidFill>
          <a:ln w="9525">
            <a:solidFill>
              <a:srgbClr val="5A3E63"/>
            </a:solidFill>
            <a:prstDash val="solid"/>
          </a:ln>
        </p:spPr>
      </p:sp>
      <p:sp>
        <p:nvSpPr>
          <p:cNvPr id="36" name="Text 33"/>
          <p:cNvSpPr txBox="1"/>
          <p:nvPr/>
        </p:nvSpPr>
        <p:spPr>
          <a:xfrm>
            <a:off x="6309360" y="5184648"/>
            <a:ext cx="2313432" cy="228600"/>
          </a:xfrm>
          <a:prstGeom prst="rect">
            <a:avLst/>
          </a:prstGeom>
          <a:noFill/>
          <a:ln/>
        </p:spPr>
        <p:txBody>
          <a:bodyPr wrap="square" lIns="0" tIns="0" rIns="0" bIns="0" rtlCol="0" anchor="ctr"/>
          <a:lstStyle/>
          <a:p>
            <a:pPr indent="0" marL="0">
              <a:buNone/>
            </a:pPr>
            <a:r>
              <a:rPr lang="en-US" sz="900" b="1" spc="100" kern="0" dirty="0">
                <a:solidFill>
                  <a:srgbClr val="C9932E"/>
                </a:solidFill>
                <a:latin typeface="Calibri" pitchFamily="34" charset="0"/>
                <a:ea typeface="Calibri" pitchFamily="34" charset="-122"/>
                <a:cs typeface="Calibri" pitchFamily="34" charset="-120"/>
              </a:rPr>
              <a:t>PROGRAM &amp; SEMESTER</a:t>
            </a:r>
            <a:endParaRPr lang="en-US" sz="900" dirty="0"/>
          </a:p>
        </p:txBody>
      </p:sp>
      <p:sp>
        <p:nvSpPr>
          <p:cNvPr id="37" name="Text 34"/>
          <p:cNvSpPr txBox="1"/>
          <p:nvPr/>
        </p:nvSpPr>
        <p:spPr>
          <a:xfrm>
            <a:off x="6309360" y="5440680"/>
            <a:ext cx="2313432"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B.Tech CSE, 5th Semester</a:t>
            </a:r>
            <a:endParaRPr lang="en-US" sz="1150" dirty="0"/>
          </a:p>
        </p:txBody>
      </p:sp>
      <p:sp>
        <p:nvSpPr>
          <p:cNvPr id="38" name="Shape 35"/>
          <p:cNvSpPr/>
          <p:nvPr/>
        </p:nvSpPr>
        <p:spPr>
          <a:xfrm>
            <a:off x="8970264" y="5074920"/>
            <a:ext cx="2606040" cy="914400"/>
          </a:xfrm>
          <a:prstGeom prst="rect">
            <a:avLst/>
          </a:prstGeom>
          <a:solidFill>
            <a:srgbClr val="2A1930"/>
          </a:solidFill>
          <a:ln w="9525">
            <a:solidFill>
              <a:srgbClr val="5A3E63"/>
            </a:solidFill>
            <a:prstDash val="solid"/>
          </a:ln>
        </p:spPr>
      </p:sp>
      <p:sp>
        <p:nvSpPr>
          <p:cNvPr id="39" name="Text 36"/>
          <p:cNvSpPr txBox="1"/>
          <p:nvPr/>
        </p:nvSpPr>
        <p:spPr>
          <a:xfrm>
            <a:off x="9116568" y="5184648"/>
            <a:ext cx="2313432" cy="228600"/>
          </a:xfrm>
          <a:prstGeom prst="rect">
            <a:avLst/>
          </a:prstGeom>
          <a:noFill/>
          <a:ln/>
        </p:spPr>
        <p:txBody>
          <a:bodyPr wrap="square" lIns="0" tIns="0" rIns="0" bIns="0" rtlCol="0" anchor="ctr"/>
          <a:lstStyle/>
          <a:p>
            <a:pPr indent="0" marL="0">
              <a:buNone/>
            </a:pPr>
            <a:r>
              <a:rPr lang="en-US" sz="900" b="1" spc="100" kern="0" dirty="0">
                <a:solidFill>
                  <a:srgbClr val="C9932E"/>
                </a:solidFill>
                <a:latin typeface="Calibri" pitchFamily="34" charset="0"/>
                <a:ea typeface="Calibri" pitchFamily="34" charset="-122"/>
                <a:cs typeface="Calibri" pitchFamily="34" charset="-120"/>
              </a:rPr>
              <a:t>ORGANIZATION</a:t>
            </a:r>
            <a:endParaRPr lang="en-US" sz="900" dirty="0"/>
          </a:p>
        </p:txBody>
      </p:sp>
      <p:sp>
        <p:nvSpPr>
          <p:cNvPr id="40" name="Text 37"/>
          <p:cNvSpPr txBox="1"/>
          <p:nvPr/>
        </p:nvSpPr>
        <p:spPr>
          <a:xfrm>
            <a:off x="9116568" y="5440680"/>
            <a:ext cx="2313432"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Banaras Hindu University, Varanasi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INTERNSHIP SNAPSHOT</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Internship Overview</a:t>
            </a:r>
            <a:endParaRPr lang="en-US" sz="3000" dirty="0"/>
          </a:p>
        </p:txBody>
      </p:sp>
      <p:sp>
        <p:nvSpPr>
          <p:cNvPr id="4" name="Shape 2"/>
          <p:cNvSpPr/>
          <p:nvPr/>
        </p:nvSpPr>
        <p:spPr>
          <a:xfrm>
            <a:off x="548640" y="1600200"/>
            <a:ext cx="5349240" cy="1965960"/>
          </a:xfrm>
          <a:prstGeom prst="rect">
            <a:avLst/>
          </a:prstGeom>
          <a:solidFill>
            <a:srgbClr val="F7F4F2"/>
          </a:solidFill>
          <a:ln w="12700">
            <a:solidFill>
              <a:srgbClr val="E7E1DD"/>
            </a:solidFill>
            <a:prstDash val="solid"/>
          </a:ln>
        </p:spPr>
      </p:sp>
      <p:sp>
        <p:nvSpPr>
          <p:cNvPr id="5" name="Shape 3"/>
          <p:cNvSpPr/>
          <p:nvPr/>
        </p:nvSpPr>
        <p:spPr>
          <a:xfrm>
            <a:off x="822960" y="1874520"/>
            <a:ext cx="384048" cy="384048"/>
          </a:xfrm>
          <a:prstGeom prst="ellipse">
            <a:avLst/>
          </a:prstGeom>
          <a:solidFill>
            <a:srgbClr val="C9932E"/>
          </a:solidFill>
          <a:ln/>
        </p:spPr>
      </p:sp>
      <p:sp>
        <p:nvSpPr>
          <p:cNvPr id="6" name="Text 4"/>
          <p:cNvSpPr txBox="1"/>
          <p:nvPr/>
        </p:nvSpPr>
        <p:spPr>
          <a:xfrm>
            <a:off x="82296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71600" y="1856232"/>
            <a:ext cx="4251960" cy="411480"/>
          </a:xfrm>
          <a:prstGeom prst="rect">
            <a:avLst/>
          </a:prstGeom>
          <a:noFill/>
          <a:ln/>
        </p:spPr>
        <p:txBody>
          <a:bodyPr wrap="square" lIns="0" tIns="0" rIns="0" bIns="0" rtlCol="0" anchor="ctr"/>
          <a:lstStyle/>
          <a:p>
            <a:pPr indent="0" marL="0">
              <a:buNone/>
            </a:pPr>
            <a:r>
              <a:rPr lang="en-US" sz="1600" b="1" dirty="0">
                <a:solidFill>
                  <a:srgbClr val="3D2645"/>
                </a:solidFill>
                <a:latin typeface="Cambria" pitchFamily="34" charset="0"/>
                <a:ea typeface="Cambria" pitchFamily="34" charset="-122"/>
                <a:cs typeface="Cambria" pitchFamily="34" charset="-120"/>
              </a:rPr>
              <a:t>Host Institution</a:t>
            </a:r>
            <a:endParaRPr lang="en-US" sz="1600" dirty="0"/>
          </a:p>
        </p:txBody>
      </p:sp>
      <p:sp>
        <p:nvSpPr>
          <p:cNvPr id="8" name="Text 6"/>
          <p:cNvSpPr txBox="1"/>
          <p:nvPr/>
        </p:nvSpPr>
        <p:spPr>
          <a:xfrm>
            <a:off x="868680" y="2468880"/>
            <a:ext cx="4709160" cy="96012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Dept. of Computer Science, Institute of Science, Banaras Hindu University (BHU), Varanasi</a:t>
            </a:r>
            <a:endParaRPr lang="en-US" sz="1200" dirty="0"/>
          </a:p>
        </p:txBody>
      </p:sp>
      <p:sp>
        <p:nvSpPr>
          <p:cNvPr id="9" name="Shape 7"/>
          <p:cNvSpPr/>
          <p:nvPr/>
        </p:nvSpPr>
        <p:spPr>
          <a:xfrm>
            <a:off x="6217920" y="1600200"/>
            <a:ext cx="5349240" cy="1965960"/>
          </a:xfrm>
          <a:prstGeom prst="rect">
            <a:avLst/>
          </a:prstGeom>
          <a:solidFill>
            <a:srgbClr val="F7F4F2"/>
          </a:solidFill>
          <a:ln w="12700">
            <a:solidFill>
              <a:srgbClr val="E7E1DD"/>
            </a:solidFill>
            <a:prstDash val="solid"/>
          </a:ln>
        </p:spPr>
      </p:sp>
      <p:sp>
        <p:nvSpPr>
          <p:cNvPr id="10" name="Shape 8"/>
          <p:cNvSpPr/>
          <p:nvPr/>
        </p:nvSpPr>
        <p:spPr>
          <a:xfrm>
            <a:off x="6492240" y="1874520"/>
            <a:ext cx="384048" cy="384048"/>
          </a:xfrm>
          <a:prstGeom prst="ellipse">
            <a:avLst/>
          </a:prstGeom>
          <a:solidFill>
            <a:srgbClr val="C9932E"/>
          </a:solidFill>
          <a:ln/>
        </p:spPr>
      </p:sp>
      <p:sp>
        <p:nvSpPr>
          <p:cNvPr id="11" name="Text 9"/>
          <p:cNvSpPr txBox="1"/>
          <p:nvPr/>
        </p:nvSpPr>
        <p:spPr>
          <a:xfrm>
            <a:off x="64922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40880" y="1856232"/>
            <a:ext cx="4251960" cy="411480"/>
          </a:xfrm>
          <a:prstGeom prst="rect">
            <a:avLst/>
          </a:prstGeom>
          <a:noFill/>
          <a:ln/>
        </p:spPr>
        <p:txBody>
          <a:bodyPr wrap="square" lIns="0" tIns="0" rIns="0" bIns="0" rtlCol="0" anchor="ctr"/>
          <a:lstStyle/>
          <a:p>
            <a:pPr indent="0" marL="0">
              <a:buNone/>
            </a:pPr>
            <a:r>
              <a:rPr lang="en-US" sz="1600" b="1" dirty="0">
                <a:solidFill>
                  <a:srgbClr val="3D2645"/>
                </a:solidFill>
                <a:latin typeface="Cambria" pitchFamily="34" charset="0"/>
                <a:ea typeface="Cambria" pitchFamily="34" charset="-122"/>
                <a:cs typeface="Cambria" pitchFamily="34" charset="-120"/>
              </a:rPr>
              <a:t>Duration</a:t>
            </a:r>
            <a:endParaRPr lang="en-US" sz="1600" dirty="0"/>
          </a:p>
        </p:txBody>
      </p:sp>
      <p:sp>
        <p:nvSpPr>
          <p:cNvPr id="13" name="Text 11"/>
          <p:cNvSpPr txBox="1"/>
          <p:nvPr/>
        </p:nvSpPr>
        <p:spPr>
          <a:xfrm>
            <a:off x="6537960" y="2468880"/>
            <a:ext cx="4709160" cy="96012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8 Weeks</a:t>
            </a:r>
            <a:endParaRPr lang="en-US" sz="1200" dirty="0"/>
          </a:p>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June 1 – July 25, 2026</a:t>
            </a:r>
            <a:endParaRPr lang="en-US" sz="1200" dirty="0"/>
          </a:p>
        </p:txBody>
      </p:sp>
      <p:sp>
        <p:nvSpPr>
          <p:cNvPr id="14" name="Shape 12"/>
          <p:cNvSpPr/>
          <p:nvPr/>
        </p:nvSpPr>
        <p:spPr>
          <a:xfrm>
            <a:off x="548640" y="3886200"/>
            <a:ext cx="5349240" cy="1965960"/>
          </a:xfrm>
          <a:prstGeom prst="rect">
            <a:avLst/>
          </a:prstGeom>
          <a:solidFill>
            <a:srgbClr val="F7F4F2"/>
          </a:solidFill>
          <a:ln w="12700">
            <a:solidFill>
              <a:srgbClr val="E7E1DD"/>
            </a:solidFill>
            <a:prstDash val="solid"/>
          </a:ln>
        </p:spPr>
      </p:sp>
      <p:sp>
        <p:nvSpPr>
          <p:cNvPr id="15" name="Shape 13"/>
          <p:cNvSpPr/>
          <p:nvPr/>
        </p:nvSpPr>
        <p:spPr>
          <a:xfrm>
            <a:off x="822960" y="4160520"/>
            <a:ext cx="384048" cy="384048"/>
          </a:xfrm>
          <a:prstGeom prst="ellipse">
            <a:avLst/>
          </a:prstGeom>
          <a:solidFill>
            <a:srgbClr val="C9932E"/>
          </a:solidFill>
          <a:ln/>
        </p:spPr>
      </p:sp>
      <p:sp>
        <p:nvSpPr>
          <p:cNvPr id="16" name="Text 14"/>
          <p:cNvSpPr txBox="1"/>
          <p:nvPr/>
        </p:nvSpPr>
        <p:spPr>
          <a:xfrm>
            <a:off x="82296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71600" y="4142232"/>
            <a:ext cx="4251960" cy="411480"/>
          </a:xfrm>
          <a:prstGeom prst="rect">
            <a:avLst/>
          </a:prstGeom>
          <a:noFill/>
          <a:ln/>
        </p:spPr>
        <p:txBody>
          <a:bodyPr wrap="square" lIns="0" tIns="0" rIns="0" bIns="0" rtlCol="0" anchor="ctr"/>
          <a:lstStyle/>
          <a:p>
            <a:pPr indent="0" marL="0">
              <a:buNone/>
            </a:pPr>
            <a:r>
              <a:rPr lang="en-US" sz="1600" b="1" dirty="0">
                <a:solidFill>
                  <a:srgbClr val="3D2645"/>
                </a:solidFill>
                <a:latin typeface="Cambria" pitchFamily="34" charset="0"/>
                <a:ea typeface="Cambria" pitchFamily="34" charset="-122"/>
                <a:cs typeface="Cambria" pitchFamily="34" charset="-120"/>
              </a:rPr>
              <a:t>Supervisor</a:t>
            </a:r>
            <a:endParaRPr lang="en-US" sz="1600" dirty="0"/>
          </a:p>
        </p:txBody>
      </p:sp>
      <p:sp>
        <p:nvSpPr>
          <p:cNvPr id="18" name="Text 16"/>
          <p:cNvSpPr txBox="1"/>
          <p:nvPr/>
        </p:nvSpPr>
        <p:spPr>
          <a:xfrm>
            <a:off x="868680" y="4754880"/>
            <a:ext cx="4709160" cy="96012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Prof. Manoj Kumar Singh</a:t>
            </a:r>
            <a:endParaRPr lang="en-US" sz="1200" dirty="0"/>
          </a:p>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Dept. of Computer Science, BHU</a:t>
            </a:r>
            <a:endParaRPr lang="en-US" sz="1200" dirty="0"/>
          </a:p>
        </p:txBody>
      </p:sp>
      <p:sp>
        <p:nvSpPr>
          <p:cNvPr id="19" name="Shape 17"/>
          <p:cNvSpPr/>
          <p:nvPr/>
        </p:nvSpPr>
        <p:spPr>
          <a:xfrm>
            <a:off x="6217920" y="3886200"/>
            <a:ext cx="5349240" cy="1965960"/>
          </a:xfrm>
          <a:prstGeom prst="rect">
            <a:avLst/>
          </a:prstGeom>
          <a:solidFill>
            <a:srgbClr val="F7F4F2"/>
          </a:solidFill>
          <a:ln w="12700">
            <a:solidFill>
              <a:srgbClr val="E7E1DD"/>
            </a:solidFill>
            <a:prstDash val="solid"/>
          </a:ln>
        </p:spPr>
      </p:sp>
      <p:sp>
        <p:nvSpPr>
          <p:cNvPr id="20" name="Shape 18"/>
          <p:cNvSpPr/>
          <p:nvPr/>
        </p:nvSpPr>
        <p:spPr>
          <a:xfrm>
            <a:off x="6492240" y="4160520"/>
            <a:ext cx="384048" cy="384048"/>
          </a:xfrm>
          <a:prstGeom prst="ellipse">
            <a:avLst/>
          </a:prstGeom>
          <a:solidFill>
            <a:srgbClr val="C9932E"/>
          </a:solidFill>
          <a:ln/>
        </p:spPr>
      </p:sp>
      <p:sp>
        <p:nvSpPr>
          <p:cNvPr id="21" name="Text 19"/>
          <p:cNvSpPr txBox="1"/>
          <p:nvPr/>
        </p:nvSpPr>
        <p:spPr>
          <a:xfrm>
            <a:off x="649224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40880" y="4142232"/>
            <a:ext cx="4251960" cy="411480"/>
          </a:xfrm>
          <a:prstGeom prst="rect">
            <a:avLst/>
          </a:prstGeom>
          <a:noFill/>
          <a:ln/>
        </p:spPr>
        <p:txBody>
          <a:bodyPr wrap="square" lIns="0" tIns="0" rIns="0" bIns="0" rtlCol="0" anchor="ctr"/>
          <a:lstStyle/>
          <a:p>
            <a:pPr indent="0" marL="0">
              <a:buNone/>
            </a:pPr>
            <a:r>
              <a:rPr lang="en-US" sz="1600" b="1" dirty="0">
                <a:solidFill>
                  <a:srgbClr val="3D2645"/>
                </a:solidFill>
                <a:latin typeface="Cambria" pitchFamily="34" charset="0"/>
                <a:ea typeface="Cambria" pitchFamily="34" charset="-122"/>
                <a:cs typeface="Cambria" pitchFamily="34" charset="-120"/>
              </a:rPr>
              <a:t>Nature</a:t>
            </a:r>
            <a:endParaRPr lang="en-US" sz="1600" dirty="0"/>
          </a:p>
        </p:txBody>
      </p:sp>
      <p:sp>
        <p:nvSpPr>
          <p:cNvPr id="23" name="Text 21"/>
          <p:cNvSpPr txBox="1"/>
          <p:nvPr/>
        </p:nvSpPr>
        <p:spPr>
          <a:xfrm>
            <a:off x="6537960" y="4754880"/>
            <a:ext cx="4709160" cy="96012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Research Internship — Study &amp; implementation of Artificial Neural Networks</a:t>
            </a:r>
            <a:endParaRPr lang="en-US" sz="1200" dirty="0"/>
          </a:p>
        </p:txBody>
      </p:sp>
      <p:sp>
        <p:nvSpPr>
          <p:cNvPr id="24" name="Text 22"/>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25" name="Text 23"/>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CHAPTER 4.3 – 4.4</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Problem Statement &amp; Objectives</a:t>
            </a:r>
            <a:endParaRPr lang="en-US" sz="3000" dirty="0"/>
          </a:p>
        </p:txBody>
      </p:sp>
      <p:sp>
        <p:nvSpPr>
          <p:cNvPr id="4" name="Shape 2"/>
          <p:cNvSpPr/>
          <p:nvPr/>
        </p:nvSpPr>
        <p:spPr>
          <a:xfrm>
            <a:off x="548640" y="1600200"/>
            <a:ext cx="4937760" cy="4572000"/>
          </a:xfrm>
          <a:prstGeom prst="rect">
            <a:avLst/>
          </a:prstGeom>
          <a:solidFill>
            <a:srgbClr val="3D2645"/>
          </a:solidFill>
          <a:ln/>
        </p:spPr>
      </p:sp>
      <p:sp>
        <p:nvSpPr>
          <p:cNvPr id="5" name="Text 3"/>
          <p:cNvSpPr txBox="1"/>
          <p:nvPr/>
        </p:nvSpPr>
        <p:spPr>
          <a:xfrm>
            <a:off x="868680" y="1874520"/>
            <a:ext cx="4297680" cy="274320"/>
          </a:xfrm>
          <a:prstGeom prst="rect">
            <a:avLst/>
          </a:prstGeom>
          <a:noFill/>
          <a:ln/>
        </p:spPr>
        <p:txBody>
          <a:bodyPr wrap="square" lIns="0" tIns="0" rIns="0" bIns="0" rtlCol="0" anchor="ctr"/>
          <a:lstStyle/>
          <a:p>
            <a:pPr indent="0" marL="0">
              <a:buNone/>
            </a:pPr>
            <a:r>
              <a:rPr lang="en-US" sz="1200" b="1" spc="150" kern="0" dirty="0">
                <a:solidFill>
                  <a:srgbClr val="C9932E"/>
                </a:solidFill>
                <a:latin typeface="Calibri" pitchFamily="34" charset="0"/>
                <a:ea typeface="Calibri" pitchFamily="34" charset="-122"/>
                <a:cs typeface="Calibri" pitchFamily="34" charset="-120"/>
              </a:rPr>
              <a:t>PROBLEM STATEMENT</a:t>
            </a:r>
            <a:endParaRPr lang="en-US" sz="1200" dirty="0"/>
          </a:p>
        </p:txBody>
      </p:sp>
      <p:sp>
        <p:nvSpPr>
          <p:cNvPr id="6" name="Text 4"/>
          <p:cNvSpPr txBox="1"/>
          <p:nvPr/>
        </p:nvSpPr>
        <p:spPr>
          <a:xfrm>
            <a:off x="868680" y="2331720"/>
            <a:ext cx="4297680" cy="356616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Conventional rule-based programs struggle with tasks that involve pattern recognition, non-linear relationships, or noisy real-world data — such as classification and prediction problems. The internship explored how Artificial Neural Networks (ANNs), inspired by the human brain, can learn such patterns directly from data.</a:t>
            </a:r>
            <a:endParaRPr lang="en-US" sz="1400" dirty="0"/>
          </a:p>
        </p:txBody>
      </p:sp>
      <p:sp>
        <p:nvSpPr>
          <p:cNvPr id="7" name="Text 5"/>
          <p:cNvSpPr txBox="1"/>
          <p:nvPr/>
        </p:nvSpPr>
        <p:spPr>
          <a:xfrm>
            <a:off x="5760720" y="1600200"/>
            <a:ext cx="5852160" cy="274320"/>
          </a:xfrm>
          <a:prstGeom prst="rect">
            <a:avLst/>
          </a:prstGeom>
          <a:noFill/>
          <a:ln/>
        </p:spPr>
        <p:txBody>
          <a:bodyPr wrap="square" lIns="0" tIns="0" rIns="0" bIns="0" rtlCol="0" anchor="ctr"/>
          <a:lstStyle/>
          <a:p>
            <a:pPr indent="0" marL="0">
              <a:buNone/>
            </a:pPr>
            <a:r>
              <a:rPr lang="en-US" sz="1200" b="1" spc="150" kern="0" dirty="0">
                <a:solidFill>
                  <a:srgbClr val="C9932E"/>
                </a:solidFill>
                <a:latin typeface="Calibri" pitchFamily="34" charset="0"/>
                <a:ea typeface="Calibri" pitchFamily="34" charset="-122"/>
                <a:cs typeface="Calibri" pitchFamily="34" charset="-120"/>
              </a:rPr>
              <a:t>OBJECTIVES</a:t>
            </a:r>
            <a:endParaRPr lang="en-US" sz="1200" dirty="0"/>
          </a:p>
        </p:txBody>
      </p:sp>
      <p:sp>
        <p:nvSpPr>
          <p:cNvPr id="8" name="Shape 6"/>
          <p:cNvSpPr/>
          <p:nvPr/>
        </p:nvSpPr>
        <p:spPr>
          <a:xfrm>
            <a:off x="5760720" y="2057400"/>
            <a:ext cx="329184" cy="329184"/>
          </a:xfrm>
          <a:prstGeom prst="ellipse">
            <a:avLst/>
          </a:prstGeom>
          <a:solidFill>
            <a:srgbClr val="F7F4F2"/>
          </a:solidFill>
          <a:ln/>
        </p:spPr>
      </p:sp>
      <p:sp>
        <p:nvSpPr>
          <p:cNvPr id="9" name="Text 7"/>
          <p:cNvSpPr txBox="1"/>
          <p:nvPr/>
        </p:nvSpPr>
        <p:spPr>
          <a:xfrm>
            <a:off x="5760720" y="2057400"/>
            <a:ext cx="329184" cy="329184"/>
          </a:xfrm>
          <a:prstGeom prst="rect">
            <a:avLst/>
          </a:prstGeom>
          <a:noFill/>
          <a:ln/>
        </p:spPr>
        <p:txBody>
          <a:bodyPr wrap="square" lIns="0" tIns="0" rIns="0" bIns="0" rtlCol="0" anchor="ctr"/>
          <a:lstStyle/>
          <a:p>
            <a:pPr algn="ctr" indent="0" marL="0">
              <a:buNone/>
            </a:pPr>
            <a:r>
              <a:rPr lang="en-US" sz="1300" b="1" dirty="0">
                <a:solidFill>
                  <a:srgbClr val="3D2645"/>
                </a:solidFill>
                <a:latin typeface="Calibri" pitchFamily="34" charset="0"/>
                <a:ea typeface="Calibri" pitchFamily="34" charset="-122"/>
                <a:cs typeface="Calibri" pitchFamily="34" charset="-120"/>
              </a:rPr>
              <a:t>1</a:t>
            </a:r>
            <a:endParaRPr lang="en-US" sz="1300" dirty="0"/>
          </a:p>
        </p:txBody>
      </p:sp>
      <p:sp>
        <p:nvSpPr>
          <p:cNvPr id="10" name="Shape 8"/>
          <p:cNvSpPr/>
          <p:nvPr/>
        </p:nvSpPr>
        <p:spPr>
          <a:xfrm>
            <a:off x="5760720" y="2057400"/>
            <a:ext cx="329184" cy="329184"/>
          </a:xfrm>
          <a:prstGeom prst="ellipse">
            <a:avLst/>
          </a:prstGeom>
          <a:ln w="15875">
            <a:solidFill>
              <a:srgbClr val="C9932E"/>
            </a:solidFill>
            <a:prstDash val="solid"/>
          </a:ln>
        </p:spPr>
      </p:sp>
      <p:sp>
        <p:nvSpPr>
          <p:cNvPr id="11" name="Text 9"/>
          <p:cNvSpPr txBox="1"/>
          <p:nvPr/>
        </p:nvSpPr>
        <p:spPr>
          <a:xfrm>
            <a:off x="6263640" y="2011680"/>
            <a:ext cx="5349240" cy="685800"/>
          </a:xfrm>
          <a:prstGeom prst="rect">
            <a:avLst/>
          </a:prstGeom>
          <a:noFill/>
          <a:ln/>
        </p:spPr>
        <p:txBody>
          <a:bodyPr wrap="square" lIns="0" tIns="0" rIns="0" bIns="0" rtlCol="0" anchor="t"/>
          <a:lstStyle/>
          <a:p>
            <a:pPr indent="0" marL="0">
              <a:lnSpc>
                <a:spcPct val="115000"/>
              </a:lnSpc>
              <a:buNone/>
            </a:pPr>
            <a:r>
              <a:rPr lang="en-US" sz="1300" dirty="0">
                <a:solidFill>
                  <a:srgbClr val="262229"/>
                </a:solidFill>
                <a:latin typeface="Calibri" pitchFamily="34" charset="0"/>
                <a:ea typeface="Calibri" pitchFamily="34" charset="-122"/>
                <a:cs typeface="Calibri" pitchFamily="34" charset="-120"/>
              </a:rPr>
              <a:t>Understand the theoretical foundation of ANNs and biological inspiration</a:t>
            </a:r>
            <a:endParaRPr lang="en-US" sz="1300" dirty="0"/>
          </a:p>
        </p:txBody>
      </p:sp>
      <p:sp>
        <p:nvSpPr>
          <p:cNvPr id="12" name="Shape 10"/>
          <p:cNvSpPr/>
          <p:nvPr/>
        </p:nvSpPr>
        <p:spPr>
          <a:xfrm>
            <a:off x="5760720" y="2898648"/>
            <a:ext cx="329184" cy="329184"/>
          </a:xfrm>
          <a:prstGeom prst="ellipse">
            <a:avLst/>
          </a:prstGeom>
          <a:solidFill>
            <a:srgbClr val="F7F4F2"/>
          </a:solidFill>
          <a:ln/>
        </p:spPr>
      </p:sp>
      <p:sp>
        <p:nvSpPr>
          <p:cNvPr id="13" name="Text 11"/>
          <p:cNvSpPr txBox="1"/>
          <p:nvPr/>
        </p:nvSpPr>
        <p:spPr>
          <a:xfrm>
            <a:off x="5760720" y="2898648"/>
            <a:ext cx="329184" cy="329184"/>
          </a:xfrm>
          <a:prstGeom prst="rect">
            <a:avLst/>
          </a:prstGeom>
          <a:noFill/>
          <a:ln/>
        </p:spPr>
        <p:txBody>
          <a:bodyPr wrap="square" lIns="0" tIns="0" rIns="0" bIns="0" rtlCol="0" anchor="ctr"/>
          <a:lstStyle/>
          <a:p>
            <a:pPr algn="ctr" indent="0" marL="0">
              <a:buNone/>
            </a:pPr>
            <a:r>
              <a:rPr lang="en-US" sz="1300" b="1" dirty="0">
                <a:solidFill>
                  <a:srgbClr val="3D2645"/>
                </a:solidFill>
                <a:latin typeface="Calibri" pitchFamily="34" charset="0"/>
                <a:ea typeface="Calibri" pitchFamily="34" charset="-122"/>
                <a:cs typeface="Calibri" pitchFamily="34" charset="-120"/>
              </a:rPr>
              <a:t>2</a:t>
            </a:r>
            <a:endParaRPr lang="en-US" sz="1300" dirty="0"/>
          </a:p>
        </p:txBody>
      </p:sp>
      <p:sp>
        <p:nvSpPr>
          <p:cNvPr id="14" name="Shape 12"/>
          <p:cNvSpPr/>
          <p:nvPr/>
        </p:nvSpPr>
        <p:spPr>
          <a:xfrm>
            <a:off x="5760720" y="2898648"/>
            <a:ext cx="329184" cy="329184"/>
          </a:xfrm>
          <a:prstGeom prst="ellipse">
            <a:avLst/>
          </a:prstGeom>
          <a:ln w="15875">
            <a:solidFill>
              <a:srgbClr val="C9932E"/>
            </a:solidFill>
            <a:prstDash val="solid"/>
          </a:ln>
        </p:spPr>
      </p:sp>
      <p:sp>
        <p:nvSpPr>
          <p:cNvPr id="15" name="Text 13"/>
          <p:cNvSpPr txBox="1"/>
          <p:nvPr/>
        </p:nvSpPr>
        <p:spPr>
          <a:xfrm>
            <a:off x="6263640" y="2852928"/>
            <a:ext cx="5349240" cy="685800"/>
          </a:xfrm>
          <a:prstGeom prst="rect">
            <a:avLst/>
          </a:prstGeom>
          <a:noFill/>
          <a:ln/>
        </p:spPr>
        <p:txBody>
          <a:bodyPr wrap="square" lIns="0" tIns="0" rIns="0" bIns="0" rtlCol="0" anchor="t"/>
          <a:lstStyle/>
          <a:p>
            <a:pPr indent="0" marL="0">
              <a:lnSpc>
                <a:spcPct val="115000"/>
              </a:lnSpc>
              <a:buNone/>
            </a:pPr>
            <a:r>
              <a:rPr lang="en-US" sz="1300" dirty="0">
                <a:solidFill>
                  <a:srgbClr val="262229"/>
                </a:solidFill>
                <a:latin typeface="Calibri" pitchFamily="34" charset="0"/>
                <a:ea typeface="Calibri" pitchFamily="34" charset="-122"/>
                <a:cs typeface="Calibri" pitchFamily="34" charset="-120"/>
              </a:rPr>
              <a:t>Study the architecture: neurons, layers, weights &amp; biases</a:t>
            </a:r>
            <a:endParaRPr lang="en-US" sz="1300" dirty="0"/>
          </a:p>
        </p:txBody>
      </p:sp>
      <p:sp>
        <p:nvSpPr>
          <p:cNvPr id="16" name="Shape 14"/>
          <p:cNvSpPr/>
          <p:nvPr/>
        </p:nvSpPr>
        <p:spPr>
          <a:xfrm>
            <a:off x="5760720" y="3739896"/>
            <a:ext cx="329184" cy="329184"/>
          </a:xfrm>
          <a:prstGeom prst="ellipse">
            <a:avLst/>
          </a:prstGeom>
          <a:solidFill>
            <a:srgbClr val="F7F4F2"/>
          </a:solidFill>
          <a:ln/>
        </p:spPr>
      </p:sp>
      <p:sp>
        <p:nvSpPr>
          <p:cNvPr id="17" name="Text 15"/>
          <p:cNvSpPr txBox="1"/>
          <p:nvPr/>
        </p:nvSpPr>
        <p:spPr>
          <a:xfrm>
            <a:off x="5760720" y="3739896"/>
            <a:ext cx="329184" cy="329184"/>
          </a:xfrm>
          <a:prstGeom prst="rect">
            <a:avLst/>
          </a:prstGeom>
          <a:noFill/>
          <a:ln/>
        </p:spPr>
        <p:txBody>
          <a:bodyPr wrap="square" lIns="0" tIns="0" rIns="0" bIns="0" rtlCol="0" anchor="ctr"/>
          <a:lstStyle/>
          <a:p>
            <a:pPr algn="ctr" indent="0" marL="0">
              <a:buNone/>
            </a:pPr>
            <a:r>
              <a:rPr lang="en-US" sz="1300" b="1" dirty="0">
                <a:solidFill>
                  <a:srgbClr val="3D2645"/>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5760720" y="3739896"/>
            <a:ext cx="329184" cy="329184"/>
          </a:xfrm>
          <a:prstGeom prst="ellipse">
            <a:avLst/>
          </a:prstGeom>
          <a:ln w="15875">
            <a:solidFill>
              <a:srgbClr val="C9932E"/>
            </a:solidFill>
            <a:prstDash val="solid"/>
          </a:ln>
        </p:spPr>
      </p:sp>
      <p:sp>
        <p:nvSpPr>
          <p:cNvPr id="19" name="Text 17"/>
          <p:cNvSpPr txBox="1"/>
          <p:nvPr/>
        </p:nvSpPr>
        <p:spPr>
          <a:xfrm>
            <a:off x="6263640" y="3694176"/>
            <a:ext cx="5349240" cy="685800"/>
          </a:xfrm>
          <a:prstGeom prst="rect">
            <a:avLst/>
          </a:prstGeom>
          <a:noFill/>
          <a:ln/>
        </p:spPr>
        <p:txBody>
          <a:bodyPr wrap="square" lIns="0" tIns="0" rIns="0" bIns="0" rtlCol="0" anchor="t"/>
          <a:lstStyle/>
          <a:p>
            <a:pPr indent="0" marL="0">
              <a:lnSpc>
                <a:spcPct val="115000"/>
              </a:lnSpc>
              <a:buNone/>
            </a:pPr>
            <a:r>
              <a:rPr lang="en-US" sz="1300" dirty="0">
                <a:solidFill>
                  <a:srgbClr val="262229"/>
                </a:solidFill>
                <a:latin typeface="Calibri" pitchFamily="34" charset="0"/>
                <a:ea typeface="Calibri" pitchFamily="34" charset="-122"/>
                <a:cs typeface="Calibri" pitchFamily="34" charset="-120"/>
              </a:rPr>
              <a:t>Implement a feed-forward neural network from scratch in Python</a:t>
            </a:r>
            <a:endParaRPr lang="en-US" sz="1300" dirty="0"/>
          </a:p>
        </p:txBody>
      </p:sp>
      <p:sp>
        <p:nvSpPr>
          <p:cNvPr id="20" name="Shape 18"/>
          <p:cNvSpPr/>
          <p:nvPr/>
        </p:nvSpPr>
        <p:spPr>
          <a:xfrm>
            <a:off x="5760720" y="4581144"/>
            <a:ext cx="329184" cy="329184"/>
          </a:xfrm>
          <a:prstGeom prst="ellipse">
            <a:avLst/>
          </a:prstGeom>
          <a:solidFill>
            <a:srgbClr val="F7F4F2"/>
          </a:solidFill>
          <a:ln/>
        </p:spPr>
      </p:sp>
      <p:sp>
        <p:nvSpPr>
          <p:cNvPr id="21" name="Text 19"/>
          <p:cNvSpPr txBox="1"/>
          <p:nvPr/>
        </p:nvSpPr>
        <p:spPr>
          <a:xfrm>
            <a:off x="5760720" y="4581144"/>
            <a:ext cx="329184" cy="329184"/>
          </a:xfrm>
          <a:prstGeom prst="rect">
            <a:avLst/>
          </a:prstGeom>
          <a:noFill/>
          <a:ln/>
        </p:spPr>
        <p:txBody>
          <a:bodyPr wrap="square" lIns="0" tIns="0" rIns="0" bIns="0" rtlCol="0" anchor="ctr"/>
          <a:lstStyle/>
          <a:p>
            <a:pPr algn="ctr" indent="0" marL="0">
              <a:buNone/>
            </a:pPr>
            <a:r>
              <a:rPr lang="en-US" sz="1300" b="1" dirty="0">
                <a:solidFill>
                  <a:srgbClr val="3D2645"/>
                </a:solidFill>
                <a:latin typeface="Calibri" pitchFamily="34" charset="0"/>
                <a:ea typeface="Calibri" pitchFamily="34" charset="-122"/>
                <a:cs typeface="Calibri" pitchFamily="34" charset="-120"/>
              </a:rPr>
              <a:t>4</a:t>
            </a:r>
            <a:endParaRPr lang="en-US" sz="1300" dirty="0"/>
          </a:p>
        </p:txBody>
      </p:sp>
      <p:sp>
        <p:nvSpPr>
          <p:cNvPr id="22" name="Shape 20"/>
          <p:cNvSpPr/>
          <p:nvPr/>
        </p:nvSpPr>
        <p:spPr>
          <a:xfrm>
            <a:off x="5760720" y="4581144"/>
            <a:ext cx="329184" cy="329184"/>
          </a:xfrm>
          <a:prstGeom prst="ellipse">
            <a:avLst/>
          </a:prstGeom>
          <a:ln w="15875">
            <a:solidFill>
              <a:srgbClr val="C9932E"/>
            </a:solidFill>
            <a:prstDash val="solid"/>
          </a:ln>
        </p:spPr>
      </p:sp>
      <p:sp>
        <p:nvSpPr>
          <p:cNvPr id="23" name="Text 21"/>
          <p:cNvSpPr txBox="1"/>
          <p:nvPr/>
        </p:nvSpPr>
        <p:spPr>
          <a:xfrm>
            <a:off x="6263640" y="4535424"/>
            <a:ext cx="5349240" cy="685800"/>
          </a:xfrm>
          <a:prstGeom prst="rect">
            <a:avLst/>
          </a:prstGeom>
          <a:noFill/>
          <a:ln/>
        </p:spPr>
        <p:txBody>
          <a:bodyPr wrap="square" lIns="0" tIns="0" rIns="0" bIns="0" rtlCol="0" anchor="t"/>
          <a:lstStyle/>
          <a:p>
            <a:pPr indent="0" marL="0">
              <a:lnSpc>
                <a:spcPct val="115000"/>
              </a:lnSpc>
              <a:buNone/>
            </a:pPr>
            <a:r>
              <a:rPr lang="en-US" sz="1300" dirty="0">
                <a:solidFill>
                  <a:srgbClr val="262229"/>
                </a:solidFill>
                <a:latin typeface="Calibri" pitchFamily="34" charset="0"/>
                <a:ea typeface="Calibri" pitchFamily="34" charset="-122"/>
                <a:cs typeface="Calibri" pitchFamily="34" charset="-120"/>
              </a:rPr>
              <a:t>Train the model using forward propagation &amp; backpropagation</a:t>
            </a:r>
            <a:endParaRPr lang="en-US" sz="1300" dirty="0"/>
          </a:p>
        </p:txBody>
      </p:sp>
      <p:sp>
        <p:nvSpPr>
          <p:cNvPr id="24" name="Shape 22"/>
          <p:cNvSpPr/>
          <p:nvPr/>
        </p:nvSpPr>
        <p:spPr>
          <a:xfrm>
            <a:off x="5760720" y="5422392"/>
            <a:ext cx="329184" cy="329184"/>
          </a:xfrm>
          <a:prstGeom prst="ellipse">
            <a:avLst/>
          </a:prstGeom>
          <a:solidFill>
            <a:srgbClr val="F7F4F2"/>
          </a:solidFill>
          <a:ln/>
        </p:spPr>
      </p:sp>
      <p:sp>
        <p:nvSpPr>
          <p:cNvPr id="25" name="Text 23"/>
          <p:cNvSpPr txBox="1"/>
          <p:nvPr/>
        </p:nvSpPr>
        <p:spPr>
          <a:xfrm>
            <a:off x="5760720" y="5422392"/>
            <a:ext cx="329184" cy="329184"/>
          </a:xfrm>
          <a:prstGeom prst="rect">
            <a:avLst/>
          </a:prstGeom>
          <a:noFill/>
          <a:ln/>
        </p:spPr>
        <p:txBody>
          <a:bodyPr wrap="square" lIns="0" tIns="0" rIns="0" bIns="0" rtlCol="0" anchor="ctr"/>
          <a:lstStyle/>
          <a:p>
            <a:pPr algn="ctr" indent="0" marL="0">
              <a:buNone/>
            </a:pPr>
            <a:r>
              <a:rPr lang="en-US" sz="1300" b="1" dirty="0">
                <a:solidFill>
                  <a:srgbClr val="3D2645"/>
                </a:solidFill>
                <a:latin typeface="Calibri" pitchFamily="34" charset="0"/>
                <a:ea typeface="Calibri" pitchFamily="34" charset="-122"/>
                <a:cs typeface="Calibri" pitchFamily="34" charset="-120"/>
              </a:rPr>
              <a:t>5</a:t>
            </a:r>
            <a:endParaRPr lang="en-US" sz="1300" dirty="0"/>
          </a:p>
        </p:txBody>
      </p:sp>
      <p:sp>
        <p:nvSpPr>
          <p:cNvPr id="26" name="Shape 24"/>
          <p:cNvSpPr/>
          <p:nvPr/>
        </p:nvSpPr>
        <p:spPr>
          <a:xfrm>
            <a:off x="5760720" y="5422392"/>
            <a:ext cx="329184" cy="329184"/>
          </a:xfrm>
          <a:prstGeom prst="ellipse">
            <a:avLst/>
          </a:prstGeom>
          <a:ln w="15875">
            <a:solidFill>
              <a:srgbClr val="C9932E"/>
            </a:solidFill>
            <a:prstDash val="solid"/>
          </a:ln>
        </p:spPr>
      </p:sp>
      <p:sp>
        <p:nvSpPr>
          <p:cNvPr id="27" name="Text 25"/>
          <p:cNvSpPr txBox="1"/>
          <p:nvPr/>
        </p:nvSpPr>
        <p:spPr>
          <a:xfrm>
            <a:off x="6263640" y="5376672"/>
            <a:ext cx="5349240" cy="685800"/>
          </a:xfrm>
          <a:prstGeom prst="rect">
            <a:avLst/>
          </a:prstGeom>
          <a:noFill/>
          <a:ln/>
        </p:spPr>
        <p:txBody>
          <a:bodyPr wrap="square" lIns="0" tIns="0" rIns="0" bIns="0" rtlCol="0" anchor="t"/>
          <a:lstStyle/>
          <a:p>
            <a:pPr indent="0" marL="0">
              <a:lnSpc>
                <a:spcPct val="115000"/>
              </a:lnSpc>
              <a:buNone/>
            </a:pPr>
            <a:r>
              <a:rPr lang="en-US" sz="1300" dirty="0">
                <a:solidFill>
                  <a:srgbClr val="262229"/>
                </a:solidFill>
                <a:latin typeface="Calibri" pitchFamily="34" charset="0"/>
                <a:ea typeface="Calibri" pitchFamily="34" charset="-122"/>
                <a:cs typeface="Calibri" pitchFamily="34" charset="-120"/>
              </a:rPr>
              <a:t>Evaluate performance and explore real-world applications</a:t>
            </a:r>
            <a:endParaRPr lang="en-US" sz="1300" dirty="0"/>
          </a:p>
        </p:txBody>
      </p:sp>
      <p:sp>
        <p:nvSpPr>
          <p:cNvPr id="28" name="Text 26"/>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29" name="Text 27"/>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THE FOUNDATION</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What is an Artificial Neural Network?</a:t>
            </a:r>
            <a:endParaRPr lang="en-US" sz="3000" dirty="0"/>
          </a:p>
        </p:txBody>
      </p:sp>
      <p:sp>
        <p:nvSpPr>
          <p:cNvPr id="4" name="Text 2"/>
          <p:cNvSpPr txBox="1"/>
          <p:nvPr/>
        </p:nvSpPr>
        <p:spPr>
          <a:xfrm>
            <a:off x="548640" y="1554480"/>
            <a:ext cx="5486400" cy="1554480"/>
          </a:xfrm>
          <a:prstGeom prst="rect">
            <a:avLst/>
          </a:prstGeom>
          <a:noFill/>
          <a:ln/>
        </p:spPr>
        <p:txBody>
          <a:bodyPr wrap="square" lIns="0" tIns="0" rIns="0" bIns="0" rtlCol="0" anchor="t"/>
          <a:lstStyle/>
          <a:p>
            <a:pPr indent="0" marL="0">
              <a:lnSpc>
                <a:spcPct val="130000"/>
              </a:lnSpc>
              <a:buNone/>
            </a:pPr>
            <a:r>
              <a:rPr lang="en-US" sz="1350" dirty="0">
                <a:solidFill>
                  <a:srgbClr val="262229"/>
                </a:solidFill>
                <a:latin typeface="Calibri" pitchFamily="34" charset="0"/>
                <a:ea typeface="Calibri" pitchFamily="34" charset="-122"/>
                <a:cs typeface="Calibri" pitchFamily="34" charset="-120"/>
              </a:rPr>
              <a:t>An Artificial Neural Network (ANN) is a computing system loosely inspired by the network of neurons in the human brain. It consists of interconnected processing units (“neurons”) arranged in layers, which learn to map inputs to outputs by adjusting the strength of connections between them — without being explicitly programmed with rules.</a:t>
            </a:r>
            <a:endParaRPr lang="en-US" sz="1350" dirty="0"/>
          </a:p>
        </p:txBody>
      </p:sp>
      <p:sp>
        <p:nvSpPr>
          <p:cNvPr id="5" name="Shape 3"/>
          <p:cNvSpPr/>
          <p:nvPr/>
        </p:nvSpPr>
        <p:spPr>
          <a:xfrm>
            <a:off x="548640" y="3246120"/>
            <a:ext cx="310896" cy="310896"/>
          </a:xfrm>
          <a:prstGeom prst="ellipse">
            <a:avLst/>
          </a:prstGeom>
          <a:solidFill>
            <a:srgbClr val="C9932E"/>
          </a:solidFill>
          <a:ln/>
        </p:spPr>
      </p:sp>
      <p:sp>
        <p:nvSpPr>
          <p:cNvPr id="6" name="Text 4"/>
          <p:cNvSpPr txBox="1"/>
          <p:nvPr/>
        </p:nvSpPr>
        <p:spPr>
          <a:xfrm>
            <a:off x="548640" y="3246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005840" y="3191256"/>
            <a:ext cx="5120640" cy="274320"/>
          </a:xfrm>
          <a:prstGeom prst="rect">
            <a:avLst/>
          </a:prstGeom>
          <a:noFill/>
          <a:ln/>
        </p:spPr>
        <p:txBody>
          <a:bodyPr wrap="square" lIns="0" tIns="0" rIns="0" bIns="0" rtlCol="0" anchor="ctr"/>
          <a:lstStyle/>
          <a:p>
            <a:pPr indent="0" marL="0">
              <a:buNone/>
            </a:pPr>
            <a:r>
              <a:rPr lang="en-US" sz="1400" b="1" dirty="0">
                <a:solidFill>
                  <a:srgbClr val="3D2645"/>
                </a:solidFill>
                <a:latin typeface="Calibri" pitchFamily="34" charset="0"/>
                <a:ea typeface="Calibri" pitchFamily="34" charset="-122"/>
                <a:cs typeface="Calibri" pitchFamily="34" charset="-120"/>
              </a:rPr>
              <a:t>Learns from data</a:t>
            </a:r>
            <a:endParaRPr lang="en-US" sz="1400" dirty="0"/>
          </a:p>
        </p:txBody>
      </p:sp>
      <p:sp>
        <p:nvSpPr>
          <p:cNvPr id="8" name="Text 6"/>
          <p:cNvSpPr txBox="1"/>
          <p:nvPr/>
        </p:nvSpPr>
        <p:spPr>
          <a:xfrm>
            <a:off x="1005840" y="3465576"/>
            <a:ext cx="5120640" cy="457200"/>
          </a:xfrm>
          <a:prstGeom prst="rect">
            <a:avLst/>
          </a:prstGeom>
          <a:noFill/>
          <a:ln/>
        </p:spPr>
        <p:txBody>
          <a:bodyPr wrap="square" lIns="0" tIns="0" rIns="0" bIns="0" rtlCol="0" anchor="t"/>
          <a:lstStyle/>
          <a:p>
            <a:pPr indent="0" marL="0">
              <a:buNone/>
            </a:pPr>
            <a:r>
              <a:rPr lang="en-US" sz="1150" dirty="0">
                <a:solidFill>
                  <a:srgbClr val="6F6774"/>
                </a:solidFill>
                <a:latin typeface="Calibri" pitchFamily="34" charset="0"/>
                <a:ea typeface="Calibri" pitchFamily="34" charset="-122"/>
                <a:cs typeface="Calibri" pitchFamily="34" charset="-120"/>
              </a:rPr>
              <a:t>Improves performance through repeated exposure to examples</a:t>
            </a:r>
            <a:endParaRPr lang="en-US" sz="1150" dirty="0"/>
          </a:p>
        </p:txBody>
      </p:sp>
      <p:sp>
        <p:nvSpPr>
          <p:cNvPr id="9" name="Shape 7"/>
          <p:cNvSpPr/>
          <p:nvPr/>
        </p:nvSpPr>
        <p:spPr>
          <a:xfrm>
            <a:off x="548640" y="4087368"/>
            <a:ext cx="310896" cy="310896"/>
          </a:xfrm>
          <a:prstGeom prst="ellipse">
            <a:avLst/>
          </a:prstGeom>
          <a:solidFill>
            <a:srgbClr val="C9932E"/>
          </a:solidFill>
          <a:ln/>
        </p:spPr>
      </p:sp>
      <p:sp>
        <p:nvSpPr>
          <p:cNvPr id="10" name="Text 8"/>
          <p:cNvSpPr txBox="1"/>
          <p:nvPr/>
        </p:nvSpPr>
        <p:spPr>
          <a:xfrm>
            <a:off x="548640" y="40873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005840" y="4032504"/>
            <a:ext cx="5120640" cy="274320"/>
          </a:xfrm>
          <a:prstGeom prst="rect">
            <a:avLst/>
          </a:prstGeom>
          <a:noFill/>
          <a:ln/>
        </p:spPr>
        <p:txBody>
          <a:bodyPr wrap="square" lIns="0" tIns="0" rIns="0" bIns="0" rtlCol="0" anchor="ctr"/>
          <a:lstStyle/>
          <a:p>
            <a:pPr indent="0" marL="0">
              <a:buNone/>
            </a:pPr>
            <a:r>
              <a:rPr lang="en-US" sz="1400" b="1" dirty="0">
                <a:solidFill>
                  <a:srgbClr val="3D2645"/>
                </a:solidFill>
                <a:latin typeface="Calibri" pitchFamily="34" charset="0"/>
                <a:ea typeface="Calibri" pitchFamily="34" charset="-122"/>
                <a:cs typeface="Calibri" pitchFamily="34" charset="-120"/>
              </a:rPr>
              <a:t>Handles non-linearity</a:t>
            </a:r>
            <a:endParaRPr lang="en-US" sz="1400" dirty="0"/>
          </a:p>
        </p:txBody>
      </p:sp>
      <p:sp>
        <p:nvSpPr>
          <p:cNvPr id="12" name="Text 10"/>
          <p:cNvSpPr txBox="1"/>
          <p:nvPr/>
        </p:nvSpPr>
        <p:spPr>
          <a:xfrm>
            <a:off x="1005840" y="4306824"/>
            <a:ext cx="5120640" cy="457200"/>
          </a:xfrm>
          <a:prstGeom prst="rect">
            <a:avLst/>
          </a:prstGeom>
          <a:noFill/>
          <a:ln/>
        </p:spPr>
        <p:txBody>
          <a:bodyPr wrap="square" lIns="0" tIns="0" rIns="0" bIns="0" rtlCol="0" anchor="t"/>
          <a:lstStyle/>
          <a:p>
            <a:pPr indent="0" marL="0">
              <a:buNone/>
            </a:pPr>
            <a:r>
              <a:rPr lang="en-US" sz="1150" dirty="0">
                <a:solidFill>
                  <a:srgbClr val="6F6774"/>
                </a:solidFill>
                <a:latin typeface="Calibri" pitchFamily="34" charset="0"/>
                <a:ea typeface="Calibri" pitchFamily="34" charset="-122"/>
                <a:cs typeface="Calibri" pitchFamily="34" charset="-120"/>
              </a:rPr>
              <a:t>Captures complex relationships simple equations cannot</a:t>
            </a:r>
            <a:endParaRPr lang="en-US" sz="1150" dirty="0"/>
          </a:p>
        </p:txBody>
      </p:sp>
      <p:sp>
        <p:nvSpPr>
          <p:cNvPr id="13" name="Shape 11"/>
          <p:cNvSpPr/>
          <p:nvPr/>
        </p:nvSpPr>
        <p:spPr>
          <a:xfrm>
            <a:off x="548640" y="4928616"/>
            <a:ext cx="310896" cy="310896"/>
          </a:xfrm>
          <a:prstGeom prst="ellipse">
            <a:avLst/>
          </a:prstGeom>
          <a:solidFill>
            <a:srgbClr val="C9932E"/>
          </a:solidFill>
          <a:ln/>
        </p:spPr>
      </p:sp>
      <p:sp>
        <p:nvSpPr>
          <p:cNvPr id="14" name="Text 12"/>
          <p:cNvSpPr txBox="1"/>
          <p:nvPr/>
        </p:nvSpPr>
        <p:spPr>
          <a:xfrm>
            <a:off x="548640" y="49286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txBox="1"/>
          <p:nvPr/>
        </p:nvSpPr>
        <p:spPr>
          <a:xfrm>
            <a:off x="1005840" y="4873752"/>
            <a:ext cx="5120640" cy="274320"/>
          </a:xfrm>
          <a:prstGeom prst="rect">
            <a:avLst/>
          </a:prstGeom>
          <a:noFill/>
          <a:ln/>
        </p:spPr>
        <p:txBody>
          <a:bodyPr wrap="square" lIns="0" tIns="0" rIns="0" bIns="0" rtlCol="0" anchor="ctr"/>
          <a:lstStyle/>
          <a:p>
            <a:pPr indent="0" marL="0">
              <a:buNone/>
            </a:pPr>
            <a:r>
              <a:rPr lang="en-US" sz="1400" b="1" dirty="0">
                <a:solidFill>
                  <a:srgbClr val="3D2645"/>
                </a:solidFill>
                <a:latin typeface="Calibri" pitchFamily="34" charset="0"/>
                <a:ea typeface="Calibri" pitchFamily="34" charset="-122"/>
                <a:cs typeface="Calibri" pitchFamily="34" charset="-120"/>
              </a:rPr>
              <a:t>Generalizes</a:t>
            </a:r>
            <a:endParaRPr lang="en-US" sz="1400" dirty="0"/>
          </a:p>
        </p:txBody>
      </p:sp>
      <p:sp>
        <p:nvSpPr>
          <p:cNvPr id="16" name="Text 14"/>
          <p:cNvSpPr txBox="1"/>
          <p:nvPr/>
        </p:nvSpPr>
        <p:spPr>
          <a:xfrm>
            <a:off x="1005840" y="5148072"/>
            <a:ext cx="5120640" cy="457200"/>
          </a:xfrm>
          <a:prstGeom prst="rect">
            <a:avLst/>
          </a:prstGeom>
          <a:noFill/>
          <a:ln/>
        </p:spPr>
        <p:txBody>
          <a:bodyPr wrap="square" lIns="0" tIns="0" rIns="0" bIns="0" rtlCol="0" anchor="t"/>
          <a:lstStyle/>
          <a:p>
            <a:pPr indent="0" marL="0">
              <a:buNone/>
            </a:pPr>
            <a:r>
              <a:rPr lang="en-US" sz="1150" dirty="0">
                <a:solidFill>
                  <a:srgbClr val="6F6774"/>
                </a:solidFill>
                <a:latin typeface="Calibri" pitchFamily="34" charset="0"/>
                <a:ea typeface="Calibri" pitchFamily="34" charset="-122"/>
                <a:cs typeface="Calibri" pitchFamily="34" charset="-120"/>
              </a:rPr>
              <a:t>Makes reasonable predictions on unseen inputs</a:t>
            </a:r>
            <a:endParaRPr lang="en-US" sz="1150" dirty="0"/>
          </a:p>
        </p:txBody>
      </p:sp>
      <p:sp>
        <p:nvSpPr>
          <p:cNvPr id="17" name="Shape 15"/>
          <p:cNvSpPr/>
          <p:nvPr/>
        </p:nvSpPr>
        <p:spPr>
          <a:xfrm>
            <a:off x="6492240" y="1508760"/>
            <a:ext cx="5166360" cy="4617720"/>
          </a:xfrm>
          <a:prstGeom prst="rect">
            <a:avLst/>
          </a:prstGeom>
          <a:solidFill>
            <a:srgbClr val="F7F4F2"/>
          </a:solidFill>
          <a:ln w="12700">
            <a:solidFill>
              <a:srgbClr val="E7E1DD"/>
            </a:solidFill>
            <a:prstDash val="solid"/>
          </a:ln>
        </p:spPr>
      </p:sp>
      <p:sp>
        <p:nvSpPr>
          <p:cNvPr id="18" name="Text 16"/>
          <p:cNvSpPr txBox="1"/>
          <p:nvPr/>
        </p:nvSpPr>
        <p:spPr>
          <a:xfrm>
            <a:off x="6766560" y="1737360"/>
            <a:ext cx="4617720" cy="274320"/>
          </a:xfrm>
          <a:prstGeom prst="rect">
            <a:avLst/>
          </a:prstGeom>
          <a:noFill/>
          <a:ln/>
        </p:spPr>
        <p:txBody>
          <a:bodyPr wrap="square" lIns="0" tIns="0" rIns="0" bIns="0" rtlCol="0" anchor="ctr"/>
          <a:lstStyle/>
          <a:p>
            <a:pPr indent="0" marL="0">
              <a:buNone/>
            </a:pPr>
            <a:r>
              <a:rPr lang="en-US" sz="1100" b="1" spc="100" kern="0" dirty="0">
                <a:solidFill>
                  <a:srgbClr val="3D2645"/>
                </a:solidFill>
                <a:latin typeface="Calibri" pitchFamily="34" charset="0"/>
                <a:ea typeface="Calibri" pitchFamily="34" charset="-122"/>
                <a:cs typeface="Calibri" pitchFamily="34" charset="-120"/>
              </a:rPr>
              <a:t>A SINGLE ARTIFICIAL NEURON</a:t>
            </a:r>
            <a:endParaRPr lang="en-US" sz="1100" dirty="0"/>
          </a:p>
        </p:txBody>
      </p:sp>
      <p:sp>
        <p:nvSpPr>
          <p:cNvPr id="19" name="Shape 17"/>
          <p:cNvSpPr/>
          <p:nvPr/>
        </p:nvSpPr>
        <p:spPr>
          <a:xfrm>
            <a:off x="7132320" y="2514600"/>
            <a:ext cx="457200" cy="457200"/>
          </a:xfrm>
          <a:prstGeom prst="ellipse">
            <a:avLst/>
          </a:prstGeom>
          <a:solidFill>
            <a:srgbClr val="3D2645"/>
          </a:solidFill>
          <a:ln/>
        </p:spPr>
      </p:sp>
      <p:sp>
        <p:nvSpPr>
          <p:cNvPr id="20" name="Text 18"/>
          <p:cNvSpPr txBox="1"/>
          <p:nvPr/>
        </p:nvSpPr>
        <p:spPr>
          <a:xfrm>
            <a:off x="713232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x₁</a:t>
            </a:r>
            <a:endParaRPr lang="en-US" sz="1200" dirty="0"/>
          </a:p>
        </p:txBody>
      </p:sp>
      <p:sp>
        <p:nvSpPr>
          <p:cNvPr id="21" name="Shape 19"/>
          <p:cNvSpPr/>
          <p:nvPr/>
        </p:nvSpPr>
        <p:spPr>
          <a:xfrm>
            <a:off x="7589520" y="2743200"/>
            <a:ext cx="1851660" cy="1097280"/>
          </a:xfrm>
          <a:prstGeom prst="line">
            <a:avLst/>
          </a:prstGeom>
          <a:noFill/>
          <a:ln w="12700">
            <a:solidFill>
              <a:srgbClr val="6F6774">
                <a:alpha val="75000"/>
              </a:srgbClr>
            </a:solidFill>
            <a:prstDash val="solid"/>
          </a:ln>
        </p:spPr>
      </p:sp>
      <p:sp>
        <p:nvSpPr>
          <p:cNvPr id="22" name="Shape 20"/>
          <p:cNvSpPr/>
          <p:nvPr/>
        </p:nvSpPr>
        <p:spPr>
          <a:xfrm>
            <a:off x="7132320" y="3108960"/>
            <a:ext cx="457200" cy="457200"/>
          </a:xfrm>
          <a:prstGeom prst="ellipse">
            <a:avLst/>
          </a:prstGeom>
          <a:solidFill>
            <a:srgbClr val="3D2645"/>
          </a:solidFill>
          <a:ln/>
        </p:spPr>
      </p:sp>
      <p:sp>
        <p:nvSpPr>
          <p:cNvPr id="23" name="Text 21"/>
          <p:cNvSpPr txBox="1"/>
          <p:nvPr/>
        </p:nvSpPr>
        <p:spPr>
          <a:xfrm>
            <a:off x="7132320" y="31089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x₂</a:t>
            </a:r>
            <a:endParaRPr lang="en-US" sz="1200" dirty="0"/>
          </a:p>
        </p:txBody>
      </p:sp>
      <p:sp>
        <p:nvSpPr>
          <p:cNvPr id="24" name="Shape 22"/>
          <p:cNvSpPr/>
          <p:nvPr/>
        </p:nvSpPr>
        <p:spPr>
          <a:xfrm>
            <a:off x="7589520" y="3337560"/>
            <a:ext cx="1851660" cy="502920"/>
          </a:xfrm>
          <a:prstGeom prst="line">
            <a:avLst/>
          </a:prstGeom>
          <a:noFill/>
          <a:ln w="12700">
            <a:solidFill>
              <a:srgbClr val="6F6774">
                <a:alpha val="75000"/>
              </a:srgbClr>
            </a:solidFill>
            <a:prstDash val="solid"/>
          </a:ln>
        </p:spPr>
      </p:sp>
      <p:sp>
        <p:nvSpPr>
          <p:cNvPr id="25" name="Shape 23"/>
          <p:cNvSpPr/>
          <p:nvPr/>
        </p:nvSpPr>
        <p:spPr>
          <a:xfrm>
            <a:off x="7132320" y="3703320"/>
            <a:ext cx="457200" cy="457200"/>
          </a:xfrm>
          <a:prstGeom prst="ellipse">
            <a:avLst/>
          </a:prstGeom>
          <a:solidFill>
            <a:srgbClr val="3D2645"/>
          </a:solidFill>
          <a:ln/>
        </p:spPr>
      </p:sp>
      <p:sp>
        <p:nvSpPr>
          <p:cNvPr id="26" name="Text 24"/>
          <p:cNvSpPr txBox="1"/>
          <p:nvPr/>
        </p:nvSpPr>
        <p:spPr>
          <a:xfrm>
            <a:off x="7132320" y="37033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x₃</a:t>
            </a:r>
            <a:endParaRPr lang="en-US" sz="1200" dirty="0"/>
          </a:p>
        </p:txBody>
      </p:sp>
      <p:sp>
        <p:nvSpPr>
          <p:cNvPr id="27" name="Shape 25"/>
          <p:cNvSpPr/>
          <p:nvPr/>
        </p:nvSpPr>
        <p:spPr>
          <a:xfrm flipV="1">
            <a:off x="7589520" y="3840480"/>
            <a:ext cx="1851660" cy="91440"/>
          </a:xfrm>
          <a:prstGeom prst="line">
            <a:avLst/>
          </a:prstGeom>
          <a:noFill/>
          <a:ln w="12700">
            <a:solidFill>
              <a:srgbClr val="6F6774">
                <a:alpha val="75000"/>
              </a:srgbClr>
            </a:solidFill>
            <a:prstDash val="solid"/>
          </a:ln>
        </p:spPr>
      </p:sp>
      <p:sp>
        <p:nvSpPr>
          <p:cNvPr id="28" name="Shape 26"/>
          <p:cNvSpPr/>
          <p:nvPr/>
        </p:nvSpPr>
        <p:spPr>
          <a:xfrm>
            <a:off x="7132320" y="4297680"/>
            <a:ext cx="457200" cy="457200"/>
          </a:xfrm>
          <a:prstGeom prst="ellipse">
            <a:avLst/>
          </a:prstGeom>
          <a:solidFill>
            <a:srgbClr val="3D2645"/>
          </a:solidFill>
          <a:ln/>
        </p:spPr>
      </p:sp>
      <p:sp>
        <p:nvSpPr>
          <p:cNvPr id="29" name="Text 27"/>
          <p:cNvSpPr txBox="1"/>
          <p:nvPr/>
        </p:nvSpPr>
        <p:spPr>
          <a:xfrm>
            <a:off x="7132320" y="4297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x₄</a:t>
            </a:r>
            <a:endParaRPr lang="en-US" sz="1200" dirty="0"/>
          </a:p>
        </p:txBody>
      </p:sp>
      <p:sp>
        <p:nvSpPr>
          <p:cNvPr id="30" name="Shape 28"/>
          <p:cNvSpPr/>
          <p:nvPr/>
        </p:nvSpPr>
        <p:spPr>
          <a:xfrm flipV="1">
            <a:off x="7589520" y="3840480"/>
            <a:ext cx="1851660" cy="685800"/>
          </a:xfrm>
          <a:prstGeom prst="line">
            <a:avLst/>
          </a:prstGeom>
          <a:noFill/>
          <a:ln w="12700">
            <a:solidFill>
              <a:srgbClr val="6F6774">
                <a:alpha val="75000"/>
              </a:srgbClr>
            </a:solidFill>
            <a:prstDash val="solid"/>
          </a:ln>
        </p:spPr>
      </p:sp>
      <p:sp>
        <p:nvSpPr>
          <p:cNvPr id="31" name="Shape 29"/>
          <p:cNvSpPr/>
          <p:nvPr/>
        </p:nvSpPr>
        <p:spPr>
          <a:xfrm>
            <a:off x="9441180" y="3520440"/>
            <a:ext cx="640080" cy="640080"/>
          </a:xfrm>
          <a:prstGeom prst="ellipse">
            <a:avLst/>
          </a:prstGeom>
          <a:solidFill>
            <a:srgbClr val="C9932E"/>
          </a:solidFill>
          <a:ln/>
        </p:spPr>
      </p:sp>
      <p:sp>
        <p:nvSpPr>
          <p:cNvPr id="32" name="Text 30"/>
          <p:cNvSpPr txBox="1"/>
          <p:nvPr/>
        </p:nvSpPr>
        <p:spPr>
          <a:xfrm>
            <a:off x="9441180" y="352044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Σ, f</a:t>
            </a:r>
            <a:endParaRPr lang="en-US" sz="1300" dirty="0"/>
          </a:p>
        </p:txBody>
      </p:sp>
      <p:sp>
        <p:nvSpPr>
          <p:cNvPr id="33" name="Shape 31"/>
          <p:cNvSpPr/>
          <p:nvPr/>
        </p:nvSpPr>
        <p:spPr>
          <a:xfrm>
            <a:off x="10081260" y="3840480"/>
            <a:ext cx="662940" cy="914"/>
          </a:xfrm>
          <a:prstGeom prst="line">
            <a:avLst/>
          </a:prstGeom>
          <a:noFill/>
          <a:ln w="12700">
            <a:solidFill>
              <a:srgbClr val="6F6774"/>
            </a:solidFill>
            <a:prstDash val="solid"/>
          </a:ln>
        </p:spPr>
      </p:sp>
      <p:sp>
        <p:nvSpPr>
          <p:cNvPr id="34" name="Shape 32"/>
          <p:cNvSpPr/>
          <p:nvPr/>
        </p:nvSpPr>
        <p:spPr>
          <a:xfrm>
            <a:off x="10744200" y="3611880"/>
            <a:ext cx="457200" cy="457200"/>
          </a:xfrm>
          <a:prstGeom prst="ellipse">
            <a:avLst/>
          </a:prstGeom>
          <a:solidFill>
            <a:srgbClr val="3D2645"/>
          </a:solidFill>
          <a:ln/>
        </p:spPr>
      </p:sp>
      <p:sp>
        <p:nvSpPr>
          <p:cNvPr id="35" name="Text 33"/>
          <p:cNvSpPr txBox="1"/>
          <p:nvPr/>
        </p:nvSpPr>
        <p:spPr>
          <a:xfrm>
            <a:off x="10744200" y="36118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36" name="Text 34"/>
          <p:cNvSpPr txBox="1"/>
          <p:nvPr/>
        </p:nvSpPr>
        <p:spPr>
          <a:xfrm>
            <a:off x="6766560" y="5166360"/>
            <a:ext cx="4617720" cy="777240"/>
          </a:xfrm>
          <a:prstGeom prst="rect">
            <a:avLst/>
          </a:prstGeom>
          <a:noFill/>
          <a:ln/>
        </p:spPr>
        <p:txBody>
          <a:bodyPr wrap="square" lIns="0" tIns="0" rIns="0" bIns="0" rtlCol="0" anchor="t"/>
          <a:lstStyle/>
          <a:p>
            <a:pPr indent="0" marL="0">
              <a:lnSpc>
                <a:spcPct val="120000"/>
              </a:lnSpc>
              <a:buNone/>
            </a:pPr>
            <a:r>
              <a:rPr lang="en-US" sz="1100" i="1" dirty="0">
                <a:solidFill>
                  <a:srgbClr val="6F6774"/>
                </a:solidFill>
                <a:latin typeface="Calibri" pitchFamily="34" charset="0"/>
                <a:ea typeface="Calibri" pitchFamily="34" charset="-122"/>
                <a:cs typeface="Calibri" pitchFamily="34" charset="-120"/>
              </a:rPr>
              <a:t>Weighted inputs are summed, passed through an activation function f, and produce an output signal y.</a:t>
            </a:r>
            <a:endParaRPr lang="en-US" sz="1100" dirty="0"/>
          </a:p>
        </p:txBody>
      </p:sp>
      <p:sp>
        <p:nvSpPr>
          <p:cNvPr id="37" name="Text 35"/>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38" name="Text 36"/>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INSPIRATION</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Biological Neuron vs. Artificial Neuron</a:t>
            </a:r>
            <a:endParaRPr lang="en-US" sz="3000" dirty="0"/>
          </a:p>
        </p:txBody>
      </p:sp>
      <p:sp>
        <p:nvSpPr>
          <p:cNvPr id="4" name="Shape 2"/>
          <p:cNvSpPr/>
          <p:nvPr/>
        </p:nvSpPr>
        <p:spPr>
          <a:xfrm>
            <a:off x="548640" y="1463040"/>
            <a:ext cx="3794760" cy="457200"/>
          </a:xfrm>
          <a:prstGeom prst="rect">
            <a:avLst/>
          </a:prstGeom>
          <a:solidFill>
            <a:srgbClr val="3D2645"/>
          </a:solidFill>
          <a:ln/>
        </p:spPr>
      </p:sp>
      <p:sp>
        <p:nvSpPr>
          <p:cNvPr id="5" name="Text 3"/>
          <p:cNvSpPr txBox="1"/>
          <p:nvPr/>
        </p:nvSpPr>
        <p:spPr>
          <a:xfrm>
            <a:off x="548640" y="1463040"/>
            <a:ext cx="37947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Biological Neuron</a:t>
            </a:r>
            <a:endParaRPr lang="en-US" sz="1500" dirty="0"/>
          </a:p>
        </p:txBody>
      </p:sp>
      <p:sp>
        <p:nvSpPr>
          <p:cNvPr id="6" name="Shape 4"/>
          <p:cNvSpPr/>
          <p:nvPr/>
        </p:nvSpPr>
        <p:spPr>
          <a:xfrm>
            <a:off x="5102352" y="1463040"/>
            <a:ext cx="3794760" cy="457200"/>
          </a:xfrm>
          <a:prstGeom prst="rect">
            <a:avLst/>
          </a:prstGeom>
          <a:solidFill>
            <a:srgbClr val="C9932E"/>
          </a:solidFill>
          <a:ln/>
        </p:spPr>
      </p:sp>
      <p:sp>
        <p:nvSpPr>
          <p:cNvPr id="7" name="Text 5"/>
          <p:cNvSpPr txBox="1"/>
          <p:nvPr/>
        </p:nvSpPr>
        <p:spPr>
          <a:xfrm>
            <a:off x="5102352" y="1463040"/>
            <a:ext cx="37947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Artificial Neuron</a:t>
            </a:r>
            <a:endParaRPr lang="en-US" sz="1500" dirty="0"/>
          </a:p>
        </p:txBody>
      </p:sp>
      <p:sp>
        <p:nvSpPr>
          <p:cNvPr id="8" name="Shape 6"/>
          <p:cNvSpPr/>
          <p:nvPr/>
        </p:nvSpPr>
        <p:spPr>
          <a:xfrm>
            <a:off x="548640" y="2029968"/>
            <a:ext cx="3794760" cy="914400"/>
          </a:xfrm>
          <a:prstGeom prst="rect">
            <a:avLst/>
          </a:prstGeom>
          <a:solidFill>
            <a:srgbClr val="F7F4F2"/>
          </a:solidFill>
          <a:ln w="12700">
            <a:solidFill>
              <a:srgbClr val="E7E1DD"/>
            </a:solidFill>
            <a:prstDash val="solid"/>
          </a:ln>
        </p:spPr>
      </p:sp>
      <p:sp>
        <p:nvSpPr>
          <p:cNvPr id="9" name="Text 7"/>
          <p:cNvSpPr txBox="1"/>
          <p:nvPr/>
        </p:nvSpPr>
        <p:spPr>
          <a:xfrm>
            <a:off x="777240" y="2157984"/>
            <a:ext cx="3337560" cy="292608"/>
          </a:xfrm>
          <a:prstGeom prst="rect">
            <a:avLst/>
          </a:prstGeom>
          <a:noFill/>
          <a:ln/>
        </p:spPr>
        <p:txBody>
          <a:bodyPr wrap="square" lIns="0" tIns="0" rIns="0" bIns="0" rtlCol="0" anchor="ctr"/>
          <a:lstStyle/>
          <a:p>
            <a:pPr indent="0" marL="0">
              <a:buNone/>
            </a:pPr>
            <a:r>
              <a:rPr lang="en-US" sz="1300" b="1" dirty="0">
                <a:solidFill>
                  <a:srgbClr val="3D2645"/>
                </a:solidFill>
                <a:latin typeface="Calibri" pitchFamily="34" charset="0"/>
                <a:ea typeface="Calibri" pitchFamily="34" charset="-122"/>
                <a:cs typeface="Calibri" pitchFamily="34" charset="-120"/>
              </a:rPr>
              <a:t>Dendrites</a:t>
            </a:r>
            <a:endParaRPr lang="en-US" sz="1300" dirty="0"/>
          </a:p>
        </p:txBody>
      </p:sp>
      <p:sp>
        <p:nvSpPr>
          <p:cNvPr id="10" name="Text 8"/>
          <p:cNvSpPr txBox="1"/>
          <p:nvPr/>
        </p:nvSpPr>
        <p:spPr>
          <a:xfrm>
            <a:off x="777240" y="2468880"/>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Receive signals from other neurons</a:t>
            </a:r>
            <a:endParaRPr lang="en-US" sz="1050" dirty="0"/>
          </a:p>
        </p:txBody>
      </p:sp>
      <p:sp>
        <p:nvSpPr>
          <p:cNvPr id="11" name="Shape 9"/>
          <p:cNvSpPr/>
          <p:nvPr/>
        </p:nvSpPr>
        <p:spPr>
          <a:xfrm>
            <a:off x="5102352" y="2029968"/>
            <a:ext cx="3794760" cy="914400"/>
          </a:xfrm>
          <a:prstGeom prst="rect">
            <a:avLst/>
          </a:prstGeom>
          <a:solidFill>
            <a:srgbClr val="FBF4E4"/>
          </a:solidFill>
          <a:ln w="12700">
            <a:solidFill>
              <a:srgbClr val="EAD9A9"/>
            </a:solidFill>
            <a:prstDash val="solid"/>
          </a:ln>
        </p:spPr>
      </p:sp>
      <p:sp>
        <p:nvSpPr>
          <p:cNvPr id="12" name="Text 10"/>
          <p:cNvSpPr txBox="1"/>
          <p:nvPr/>
        </p:nvSpPr>
        <p:spPr>
          <a:xfrm>
            <a:off x="5330952" y="2157984"/>
            <a:ext cx="3337560" cy="292608"/>
          </a:xfrm>
          <a:prstGeom prst="rect">
            <a:avLst/>
          </a:prstGeom>
          <a:noFill/>
          <a:ln/>
        </p:spPr>
        <p:txBody>
          <a:bodyPr wrap="square" lIns="0" tIns="0" rIns="0" bIns="0" rtlCol="0" anchor="ctr"/>
          <a:lstStyle/>
          <a:p>
            <a:pPr indent="0" marL="0">
              <a:buNone/>
            </a:pPr>
            <a:r>
              <a:rPr lang="en-US" sz="1300" b="1" dirty="0">
                <a:solidFill>
                  <a:srgbClr val="8A6A16"/>
                </a:solidFill>
                <a:latin typeface="Calibri" pitchFamily="34" charset="0"/>
                <a:ea typeface="Calibri" pitchFamily="34" charset="-122"/>
                <a:cs typeface="Calibri" pitchFamily="34" charset="-120"/>
              </a:rPr>
              <a:t>Inputs (x)</a:t>
            </a:r>
            <a:endParaRPr lang="en-US" sz="1300" dirty="0"/>
          </a:p>
        </p:txBody>
      </p:sp>
      <p:sp>
        <p:nvSpPr>
          <p:cNvPr id="13" name="Text 11"/>
          <p:cNvSpPr txBox="1"/>
          <p:nvPr/>
        </p:nvSpPr>
        <p:spPr>
          <a:xfrm>
            <a:off x="5330952" y="2468880"/>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Numerical values fed into the neuron</a:t>
            </a:r>
            <a:endParaRPr lang="en-US" sz="1050" dirty="0"/>
          </a:p>
        </p:txBody>
      </p:sp>
      <p:sp>
        <p:nvSpPr>
          <p:cNvPr id="14" name="Text 12"/>
          <p:cNvSpPr txBox="1"/>
          <p:nvPr/>
        </p:nvSpPr>
        <p:spPr>
          <a:xfrm>
            <a:off x="4343400" y="2304288"/>
            <a:ext cx="758952" cy="365760"/>
          </a:xfrm>
          <a:prstGeom prst="rect">
            <a:avLst/>
          </a:prstGeom>
          <a:noFill/>
          <a:ln/>
        </p:spPr>
        <p:txBody>
          <a:bodyPr wrap="square" lIns="0" tIns="0" rIns="0" bIns="0" rtlCol="0" anchor="ctr"/>
          <a:lstStyle/>
          <a:p>
            <a:pPr algn="ctr" indent="0" marL="0">
              <a:buNone/>
            </a:pPr>
            <a:r>
              <a:rPr lang="en-US" sz="1600" dirty="0">
                <a:solidFill>
                  <a:srgbClr val="6F6774"/>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48640" y="3017520"/>
            <a:ext cx="3794760" cy="914400"/>
          </a:xfrm>
          <a:prstGeom prst="rect">
            <a:avLst/>
          </a:prstGeom>
          <a:solidFill>
            <a:srgbClr val="F7F4F2"/>
          </a:solidFill>
          <a:ln w="12700">
            <a:solidFill>
              <a:srgbClr val="E7E1DD"/>
            </a:solidFill>
            <a:prstDash val="solid"/>
          </a:ln>
        </p:spPr>
      </p:sp>
      <p:sp>
        <p:nvSpPr>
          <p:cNvPr id="16" name="Text 14"/>
          <p:cNvSpPr txBox="1"/>
          <p:nvPr/>
        </p:nvSpPr>
        <p:spPr>
          <a:xfrm>
            <a:off x="777240" y="3145536"/>
            <a:ext cx="3337560" cy="292608"/>
          </a:xfrm>
          <a:prstGeom prst="rect">
            <a:avLst/>
          </a:prstGeom>
          <a:noFill/>
          <a:ln/>
        </p:spPr>
        <p:txBody>
          <a:bodyPr wrap="square" lIns="0" tIns="0" rIns="0" bIns="0" rtlCol="0" anchor="ctr"/>
          <a:lstStyle/>
          <a:p>
            <a:pPr indent="0" marL="0">
              <a:buNone/>
            </a:pPr>
            <a:r>
              <a:rPr lang="en-US" sz="1300" b="1" dirty="0">
                <a:solidFill>
                  <a:srgbClr val="3D2645"/>
                </a:solidFill>
                <a:latin typeface="Calibri" pitchFamily="34" charset="0"/>
                <a:ea typeface="Calibri" pitchFamily="34" charset="-122"/>
                <a:cs typeface="Calibri" pitchFamily="34" charset="-120"/>
              </a:rPr>
              <a:t>Cell Body (Soma)</a:t>
            </a:r>
            <a:endParaRPr lang="en-US" sz="1300" dirty="0"/>
          </a:p>
        </p:txBody>
      </p:sp>
      <p:sp>
        <p:nvSpPr>
          <p:cNvPr id="17" name="Text 15"/>
          <p:cNvSpPr txBox="1"/>
          <p:nvPr/>
        </p:nvSpPr>
        <p:spPr>
          <a:xfrm>
            <a:off x="777240" y="3456432"/>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Aggregates incoming electrical signals</a:t>
            </a:r>
            <a:endParaRPr lang="en-US" sz="1050" dirty="0"/>
          </a:p>
        </p:txBody>
      </p:sp>
      <p:sp>
        <p:nvSpPr>
          <p:cNvPr id="18" name="Shape 16"/>
          <p:cNvSpPr/>
          <p:nvPr/>
        </p:nvSpPr>
        <p:spPr>
          <a:xfrm>
            <a:off x="5102352" y="3017520"/>
            <a:ext cx="3794760" cy="914400"/>
          </a:xfrm>
          <a:prstGeom prst="rect">
            <a:avLst/>
          </a:prstGeom>
          <a:solidFill>
            <a:srgbClr val="FBF4E4"/>
          </a:solidFill>
          <a:ln w="12700">
            <a:solidFill>
              <a:srgbClr val="EAD9A9"/>
            </a:solidFill>
            <a:prstDash val="solid"/>
          </a:ln>
        </p:spPr>
      </p:sp>
      <p:sp>
        <p:nvSpPr>
          <p:cNvPr id="19" name="Text 17"/>
          <p:cNvSpPr txBox="1"/>
          <p:nvPr/>
        </p:nvSpPr>
        <p:spPr>
          <a:xfrm>
            <a:off x="5330952" y="3145536"/>
            <a:ext cx="3337560" cy="292608"/>
          </a:xfrm>
          <a:prstGeom prst="rect">
            <a:avLst/>
          </a:prstGeom>
          <a:noFill/>
          <a:ln/>
        </p:spPr>
        <p:txBody>
          <a:bodyPr wrap="square" lIns="0" tIns="0" rIns="0" bIns="0" rtlCol="0" anchor="ctr"/>
          <a:lstStyle/>
          <a:p>
            <a:pPr indent="0" marL="0">
              <a:buNone/>
            </a:pPr>
            <a:r>
              <a:rPr lang="en-US" sz="1300" b="1" dirty="0">
                <a:solidFill>
                  <a:srgbClr val="8A6A16"/>
                </a:solidFill>
                <a:latin typeface="Calibri" pitchFamily="34" charset="0"/>
                <a:ea typeface="Calibri" pitchFamily="34" charset="-122"/>
                <a:cs typeface="Calibri" pitchFamily="34" charset="-120"/>
              </a:rPr>
              <a:t>Summation (Σ w·x + b)</a:t>
            </a:r>
            <a:endParaRPr lang="en-US" sz="1300" dirty="0"/>
          </a:p>
        </p:txBody>
      </p:sp>
      <p:sp>
        <p:nvSpPr>
          <p:cNvPr id="20" name="Text 18"/>
          <p:cNvSpPr txBox="1"/>
          <p:nvPr/>
        </p:nvSpPr>
        <p:spPr>
          <a:xfrm>
            <a:off x="5330952" y="3456432"/>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Weighted sum of inputs plus bias</a:t>
            </a:r>
            <a:endParaRPr lang="en-US" sz="1050" dirty="0"/>
          </a:p>
        </p:txBody>
      </p:sp>
      <p:sp>
        <p:nvSpPr>
          <p:cNvPr id="21" name="Text 19"/>
          <p:cNvSpPr txBox="1"/>
          <p:nvPr/>
        </p:nvSpPr>
        <p:spPr>
          <a:xfrm>
            <a:off x="4343400" y="3291840"/>
            <a:ext cx="758952" cy="365760"/>
          </a:xfrm>
          <a:prstGeom prst="rect">
            <a:avLst/>
          </a:prstGeom>
          <a:noFill/>
          <a:ln/>
        </p:spPr>
        <p:txBody>
          <a:bodyPr wrap="square" lIns="0" tIns="0" rIns="0" bIns="0" rtlCol="0" anchor="ctr"/>
          <a:lstStyle/>
          <a:p>
            <a:pPr algn="ctr" indent="0" marL="0">
              <a:buNone/>
            </a:pPr>
            <a:r>
              <a:rPr lang="en-US" sz="1600" dirty="0">
                <a:solidFill>
                  <a:srgbClr val="6F6774"/>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548640" y="4005072"/>
            <a:ext cx="3794760" cy="914400"/>
          </a:xfrm>
          <a:prstGeom prst="rect">
            <a:avLst/>
          </a:prstGeom>
          <a:solidFill>
            <a:srgbClr val="F7F4F2"/>
          </a:solidFill>
          <a:ln w="12700">
            <a:solidFill>
              <a:srgbClr val="E7E1DD"/>
            </a:solidFill>
            <a:prstDash val="solid"/>
          </a:ln>
        </p:spPr>
      </p:sp>
      <p:sp>
        <p:nvSpPr>
          <p:cNvPr id="23" name="Text 21"/>
          <p:cNvSpPr txBox="1"/>
          <p:nvPr/>
        </p:nvSpPr>
        <p:spPr>
          <a:xfrm>
            <a:off x="777240" y="4133088"/>
            <a:ext cx="3337560" cy="292608"/>
          </a:xfrm>
          <a:prstGeom prst="rect">
            <a:avLst/>
          </a:prstGeom>
          <a:noFill/>
          <a:ln/>
        </p:spPr>
        <p:txBody>
          <a:bodyPr wrap="square" lIns="0" tIns="0" rIns="0" bIns="0" rtlCol="0" anchor="ctr"/>
          <a:lstStyle/>
          <a:p>
            <a:pPr indent="0" marL="0">
              <a:buNone/>
            </a:pPr>
            <a:r>
              <a:rPr lang="en-US" sz="1300" b="1" dirty="0">
                <a:solidFill>
                  <a:srgbClr val="3D2645"/>
                </a:solidFill>
                <a:latin typeface="Calibri" pitchFamily="34" charset="0"/>
                <a:ea typeface="Calibri" pitchFamily="34" charset="-122"/>
                <a:cs typeface="Calibri" pitchFamily="34" charset="-120"/>
              </a:rPr>
              <a:t>Axon</a:t>
            </a:r>
            <a:endParaRPr lang="en-US" sz="1300" dirty="0"/>
          </a:p>
        </p:txBody>
      </p:sp>
      <p:sp>
        <p:nvSpPr>
          <p:cNvPr id="24" name="Text 22"/>
          <p:cNvSpPr txBox="1"/>
          <p:nvPr/>
        </p:nvSpPr>
        <p:spPr>
          <a:xfrm>
            <a:off x="777240" y="4443984"/>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Transmits signal if a threshold is crossed</a:t>
            </a:r>
            <a:endParaRPr lang="en-US" sz="1050" dirty="0"/>
          </a:p>
        </p:txBody>
      </p:sp>
      <p:sp>
        <p:nvSpPr>
          <p:cNvPr id="25" name="Shape 23"/>
          <p:cNvSpPr/>
          <p:nvPr/>
        </p:nvSpPr>
        <p:spPr>
          <a:xfrm>
            <a:off x="5102352" y="4005072"/>
            <a:ext cx="3794760" cy="914400"/>
          </a:xfrm>
          <a:prstGeom prst="rect">
            <a:avLst/>
          </a:prstGeom>
          <a:solidFill>
            <a:srgbClr val="FBF4E4"/>
          </a:solidFill>
          <a:ln w="12700">
            <a:solidFill>
              <a:srgbClr val="EAD9A9"/>
            </a:solidFill>
            <a:prstDash val="solid"/>
          </a:ln>
        </p:spPr>
      </p:sp>
      <p:sp>
        <p:nvSpPr>
          <p:cNvPr id="26" name="Text 24"/>
          <p:cNvSpPr txBox="1"/>
          <p:nvPr/>
        </p:nvSpPr>
        <p:spPr>
          <a:xfrm>
            <a:off x="5330952" y="4133088"/>
            <a:ext cx="3337560" cy="292608"/>
          </a:xfrm>
          <a:prstGeom prst="rect">
            <a:avLst/>
          </a:prstGeom>
          <a:noFill/>
          <a:ln/>
        </p:spPr>
        <p:txBody>
          <a:bodyPr wrap="square" lIns="0" tIns="0" rIns="0" bIns="0" rtlCol="0" anchor="ctr"/>
          <a:lstStyle/>
          <a:p>
            <a:pPr indent="0" marL="0">
              <a:buNone/>
            </a:pPr>
            <a:r>
              <a:rPr lang="en-US" sz="1300" b="1" dirty="0">
                <a:solidFill>
                  <a:srgbClr val="8A6A16"/>
                </a:solidFill>
                <a:latin typeface="Calibri" pitchFamily="34" charset="0"/>
                <a:ea typeface="Calibri" pitchFamily="34" charset="-122"/>
                <a:cs typeface="Calibri" pitchFamily="34" charset="-120"/>
              </a:rPr>
              <a:t>Activation Function</a:t>
            </a:r>
            <a:endParaRPr lang="en-US" sz="1300" dirty="0"/>
          </a:p>
        </p:txBody>
      </p:sp>
      <p:sp>
        <p:nvSpPr>
          <p:cNvPr id="27" name="Text 25"/>
          <p:cNvSpPr txBox="1"/>
          <p:nvPr/>
        </p:nvSpPr>
        <p:spPr>
          <a:xfrm>
            <a:off x="5330952" y="4443984"/>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Decides the neuron's output signal</a:t>
            </a:r>
            <a:endParaRPr lang="en-US" sz="1050" dirty="0"/>
          </a:p>
        </p:txBody>
      </p:sp>
      <p:sp>
        <p:nvSpPr>
          <p:cNvPr id="28" name="Text 26"/>
          <p:cNvSpPr txBox="1"/>
          <p:nvPr/>
        </p:nvSpPr>
        <p:spPr>
          <a:xfrm>
            <a:off x="4343400" y="4279392"/>
            <a:ext cx="758952" cy="365760"/>
          </a:xfrm>
          <a:prstGeom prst="rect">
            <a:avLst/>
          </a:prstGeom>
          <a:noFill/>
          <a:ln/>
        </p:spPr>
        <p:txBody>
          <a:bodyPr wrap="square" lIns="0" tIns="0" rIns="0" bIns="0" rtlCol="0" anchor="ctr"/>
          <a:lstStyle/>
          <a:p>
            <a:pPr algn="ctr" indent="0" marL="0">
              <a:buNone/>
            </a:pPr>
            <a:r>
              <a:rPr lang="en-US" sz="1600" dirty="0">
                <a:solidFill>
                  <a:srgbClr val="6F6774"/>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548640" y="4992624"/>
            <a:ext cx="3794760" cy="914400"/>
          </a:xfrm>
          <a:prstGeom prst="rect">
            <a:avLst/>
          </a:prstGeom>
          <a:solidFill>
            <a:srgbClr val="F7F4F2"/>
          </a:solidFill>
          <a:ln w="12700">
            <a:solidFill>
              <a:srgbClr val="E7E1DD"/>
            </a:solidFill>
            <a:prstDash val="solid"/>
          </a:ln>
        </p:spPr>
      </p:sp>
      <p:sp>
        <p:nvSpPr>
          <p:cNvPr id="30" name="Text 28"/>
          <p:cNvSpPr txBox="1"/>
          <p:nvPr/>
        </p:nvSpPr>
        <p:spPr>
          <a:xfrm>
            <a:off x="777240" y="5120640"/>
            <a:ext cx="3337560" cy="292608"/>
          </a:xfrm>
          <a:prstGeom prst="rect">
            <a:avLst/>
          </a:prstGeom>
          <a:noFill/>
          <a:ln/>
        </p:spPr>
        <p:txBody>
          <a:bodyPr wrap="square" lIns="0" tIns="0" rIns="0" bIns="0" rtlCol="0" anchor="ctr"/>
          <a:lstStyle/>
          <a:p>
            <a:pPr indent="0" marL="0">
              <a:buNone/>
            </a:pPr>
            <a:r>
              <a:rPr lang="en-US" sz="1300" b="1" dirty="0">
                <a:solidFill>
                  <a:srgbClr val="3D2645"/>
                </a:solidFill>
                <a:latin typeface="Calibri" pitchFamily="34" charset="0"/>
                <a:ea typeface="Calibri" pitchFamily="34" charset="-122"/>
                <a:cs typeface="Calibri" pitchFamily="34" charset="-120"/>
              </a:rPr>
              <a:t>Synapse</a:t>
            </a:r>
            <a:endParaRPr lang="en-US" sz="1300" dirty="0"/>
          </a:p>
        </p:txBody>
      </p:sp>
      <p:sp>
        <p:nvSpPr>
          <p:cNvPr id="31" name="Text 29"/>
          <p:cNvSpPr txBox="1"/>
          <p:nvPr/>
        </p:nvSpPr>
        <p:spPr>
          <a:xfrm>
            <a:off x="777240" y="5431536"/>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Connection strength between neurons</a:t>
            </a:r>
            <a:endParaRPr lang="en-US" sz="1050" dirty="0"/>
          </a:p>
        </p:txBody>
      </p:sp>
      <p:sp>
        <p:nvSpPr>
          <p:cNvPr id="32" name="Shape 30"/>
          <p:cNvSpPr/>
          <p:nvPr/>
        </p:nvSpPr>
        <p:spPr>
          <a:xfrm>
            <a:off x="5102352" y="4992624"/>
            <a:ext cx="3794760" cy="914400"/>
          </a:xfrm>
          <a:prstGeom prst="rect">
            <a:avLst/>
          </a:prstGeom>
          <a:solidFill>
            <a:srgbClr val="FBF4E4"/>
          </a:solidFill>
          <a:ln w="12700">
            <a:solidFill>
              <a:srgbClr val="EAD9A9"/>
            </a:solidFill>
            <a:prstDash val="solid"/>
          </a:ln>
        </p:spPr>
      </p:sp>
      <p:sp>
        <p:nvSpPr>
          <p:cNvPr id="33" name="Text 31"/>
          <p:cNvSpPr txBox="1"/>
          <p:nvPr/>
        </p:nvSpPr>
        <p:spPr>
          <a:xfrm>
            <a:off x="5330952" y="5120640"/>
            <a:ext cx="3337560" cy="292608"/>
          </a:xfrm>
          <a:prstGeom prst="rect">
            <a:avLst/>
          </a:prstGeom>
          <a:noFill/>
          <a:ln/>
        </p:spPr>
        <p:txBody>
          <a:bodyPr wrap="square" lIns="0" tIns="0" rIns="0" bIns="0" rtlCol="0" anchor="ctr"/>
          <a:lstStyle/>
          <a:p>
            <a:pPr indent="0" marL="0">
              <a:buNone/>
            </a:pPr>
            <a:r>
              <a:rPr lang="en-US" sz="1300" b="1" dirty="0">
                <a:solidFill>
                  <a:srgbClr val="8A6A16"/>
                </a:solidFill>
                <a:latin typeface="Calibri" pitchFamily="34" charset="0"/>
                <a:ea typeface="Calibri" pitchFamily="34" charset="-122"/>
                <a:cs typeface="Calibri" pitchFamily="34" charset="-120"/>
              </a:rPr>
              <a:t>Weight</a:t>
            </a:r>
            <a:endParaRPr lang="en-US" sz="1300" dirty="0"/>
          </a:p>
        </p:txBody>
      </p:sp>
      <p:sp>
        <p:nvSpPr>
          <p:cNvPr id="34" name="Text 32"/>
          <p:cNvSpPr txBox="1"/>
          <p:nvPr/>
        </p:nvSpPr>
        <p:spPr>
          <a:xfrm>
            <a:off x="5330952" y="5431536"/>
            <a:ext cx="3337560" cy="50292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Learnable parameter — analogous to synapse strength</a:t>
            </a:r>
            <a:endParaRPr lang="en-US" sz="1050" dirty="0"/>
          </a:p>
        </p:txBody>
      </p:sp>
      <p:sp>
        <p:nvSpPr>
          <p:cNvPr id="35" name="Text 33"/>
          <p:cNvSpPr txBox="1"/>
          <p:nvPr/>
        </p:nvSpPr>
        <p:spPr>
          <a:xfrm>
            <a:off x="4343400" y="5266944"/>
            <a:ext cx="758952" cy="365760"/>
          </a:xfrm>
          <a:prstGeom prst="rect">
            <a:avLst/>
          </a:prstGeom>
          <a:noFill/>
          <a:ln/>
        </p:spPr>
        <p:txBody>
          <a:bodyPr wrap="square" lIns="0" tIns="0" rIns="0" bIns="0" rtlCol="0" anchor="ctr"/>
          <a:lstStyle/>
          <a:p>
            <a:pPr algn="ctr" indent="0" marL="0">
              <a:buNone/>
            </a:pPr>
            <a:r>
              <a:rPr lang="en-US" sz="1600" dirty="0">
                <a:solidFill>
                  <a:srgbClr val="6F6774"/>
                </a:solidFill>
                <a:latin typeface="Calibri" pitchFamily="34" charset="0"/>
                <a:ea typeface="Calibri" pitchFamily="34" charset="-122"/>
                <a:cs typeface="Calibri" pitchFamily="34" charset="-120"/>
              </a:rPr>
              <a:t>↔</a:t>
            </a:r>
            <a:endParaRPr lang="en-US" sz="1600" dirty="0"/>
          </a:p>
        </p:txBody>
      </p:sp>
      <p:sp>
        <p:nvSpPr>
          <p:cNvPr id="36" name="Text 34"/>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37" name="Text 35"/>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Structure of a Feed-Forward Neural Network</a:t>
            </a:r>
            <a:endParaRPr lang="en-US" sz="3000" dirty="0"/>
          </a:p>
        </p:txBody>
      </p:sp>
      <p:sp>
        <p:nvSpPr>
          <p:cNvPr id="4" name="Shape 2"/>
          <p:cNvSpPr/>
          <p:nvPr/>
        </p:nvSpPr>
        <p:spPr>
          <a:xfrm flipV="1">
            <a:off x="2295144" y="2318004"/>
            <a:ext cx="3593592" cy="85725"/>
          </a:xfrm>
          <a:prstGeom prst="line">
            <a:avLst/>
          </a:prstGeom>
          <a:noFill/>
          <a:ln w="6350">
            <a:solidFill>
              <a:srgbClr val="6F6774">
                <a:alpha val="45000"/>
              </a:srgbClr>
            </a:solidFill>
            <a:prstDash val="solid"/>
          </a:ln>
        </p:spPr>
      </p:sp>
      <p:sp>
        <p:nvSpPr>
          <p:cNvPr id="5" name="Shape 3"/>
          <p:cNvSpPr/>
          <p:nvPr/>
        </p:nvSpPr>
        <p:spPr>
          <a:xfrm>
            <a:off x="2295144" y="2403729"/>
            <a:ext cx="3593592" cy="600075"/>
          </a:xfrm>
          <a:prstGeom prst="line">
            <a:avLst/>
          </a:prstGeom>
          <a:noFill/>
          <a:ln w="6350">
            <a:solidFill>
              <a:srgbClr val="6F6774">
                <a:alpha val="45000"/>
              </a:srgbClr>
            </a:solidFill>
            <a:prstDash val="solid"/>
          </a:ln>
        </p:spPr>
      </p:sp>
      <p:sp>
        <p:nvSpPr>
          <p:cNvPr id="6" name="Shape 4"/>
          <p:cNvSpPr/>
          <p:nvPr/>
        </p:nvSpPr>
        <p:spPr>
          <a:xfrm>
            <a:off x="2295144" y="2403729"/>
            <a:ext cx="3593592" cy="1285875"/>
          </a:xfrm>
          <a:prstGeom prst="line">
            <a:avLst/>
          </a:prstGeom>
          <a:noFill/>
          <a:ln w="6350">
            <a:solidFill>
              <a:srgbClr val="6F6774">
                <a:alpha val="45000"/>
              </a:srgbClr>
            </a:solidFill>
            <a:prstDash val="solid"/>
          </a:ln>
        </p:spPr>
      </p:sp>
      <p:sp>
        <p:nvSpPr>
          <p:cNvPr id="7" name="Shape 5"/>
          <p:cNvSpPr/>
          <p:nvPr/>
        </p:nvSpPr>
        <p:spPr>
          <a:xfrm>
            <a:off x="2295144" y="2403729"/>
            <a:ext cx="3593592" cy="1971675"/>
          </a:xfrm>
          <a:prstGeom prst="line">
            <a:avLst/>
          </a:prstGeom>
          <a:noFill/>
          <a:ln w="6350">
            <a:solidFill>
              <a:srgbClr val="6F6774">
                <a:alpha val="45000"/>
              </a:srgbClr>
            </a:solidFill>
            <a:prstDash val="solid"/>
          </a:ln>
        </p:spPr>
      </p:sp>
      <p:sp>
        <p:nvSpPr>
          <p:cNvPr id="8" name="Shape 6"/>
          <p:cNvSpPr/>
          <p:nvPr/>
        </p:nvSpPr>
        <p:spPr>
          <a:xfrm>
            <a:off x="2295144" y="2403729"/>
            <a:ext cx="3593592" cy="2657475"/>
          </a:xfrm>
          <a:prstGeom prst="line">
            <a:avLst/>
          </a:prstGeom>
          <a:noFill/>
          <a:ln w="6350">
            <a:solidFill>
              <a:srgbClr val="6F6774">
                <a:alpha val="45000"/>
              </a:srgbClr>
            </a:solidFill>
            <a:prstDash val="solid"/>
          </a:ln>
        </p:spPr>
      </p:sp>
      <p:sp>
        <p:nvSpPr>
          <p:cNvPr id="9" name="Shape 7"/>
          <p:cNvSpPr/>
          <p:nvPr/>
        </p:nvSpPr>
        <p:spPr>
          <a:xfrm flipV="1">
            <a:off x="2295144" y="2318004"/>
            <a:ext cx="3593592" cy="942975"/>
          </a:xfrm>
          <a:prstGeom prst="line">
            <a:avLst/>
          </a:prstGeom>
          <a:noFill/>
          <a:ln w="6350">
            <a:solidFill>
              <a:srgbClr val="6F6774">
                <a:alpha val="45000"/>
              </a:srgbClr>
            </a:solidFill>
            <a:prstDash val="solid"/>
          </a:ln>
        </p:spPr>
      </p:sp>
      <p:sp>
        <p:nvSpPr>
          <p:cNvPr id="10" name="Shape 8"/>
          <p:cNvSpPr/>
          <p:nvPr/>
        </p:nvSpPr>
        <p:spPr>
          <a:xfrm flipV="1">
            <a:off x="2295144" y="3003804"/>
            <a:ext cx="3593592" cy="257175"/>
          </a:xfrm>
          <a:prstGeom prst="line">
            <a:avLst/>
          </a:prstGeom>
          <a:noFill/>
          <a:ln w="6350">
            <a:solidFill>
              <a:srgbClr val="6F6774">
                <a:alpha val="45000"/>
              </a:srgbClr>
            </a:solidFill>
            <a:prstDash val="solid"/>
          </a:ln>
        </p:spPr>
      </p:sp>
      <p:sp>
        <p:nvSpPr>
          <p:cNvPr id="11" name="Shape 9"/>
          <p:cNvSpPr/>
          <p:nvPr/>
        </p:nvSpPr>
        <p:spPr>
          <a:xfrm>
            <a:off x="2295144" y="3260979"/>
            <a:ext cx="3593592" cy="428625"/>
          </a:xfrm>
          <a:prstGeom prst="line">
            <a:avLst/>
          </a:prstGeom>
          <a:noFill/>
          <a:ln w="6350">
            <a:solidFill>
              <a:srgbClr val="6F6774">
                <a:alpha val="45000"/>
              </a:srgbClr>
            </a:solidFill>
            <a:prstDash val="solid"/>
          </a:ln>
        </p:spPr>
      </p:sp>
      <p:sp>
        <p:nvSpPr>
          <p:cNvPr id="12" name="Shape 10"/>
          <p:cNvSpPr/>
          <p:nvPr/>
        </p:nvSpPr>
        <p:spPr>
          <a:xfrm>
            <a:off x="2295144" y="3260979"/>
            <a:ext cx="3593592" cy="1114425"/>
          </a:xfrm>
          <a:prstGeom prst="line">
            <a:avLst/>
          </a:prstGeom>
          <a:noFill/>
          <a:ln w="6350">
            <a:solidFill>
              <a:srgbClr val="6F6774">
                <a:alpha val="45000"/>
              </a:srgbClr>
            </a:solidFill>
            <a:prstDash val="solid"/>
          </a:ln>
        </p:spPr>
      </p:sp>
      <p:sp>
        <p:nvSpPr>
          <p:cNvPr id="13" name="Shape 11"/>
          <p:cNvSpPr/>
          <p:nvPr/>
        </p:nvSpPr>
        <p:spPr>
          <a:xfrm>
            <a:off x="2295144" y="3260979"/>
            <a:ext cx="3593592" cy="1800225"/>
          </a:xfrm>
          <a:prstGeom prst="line">
            <a:avLst/>
          </a:prstGeom>
          <a:noFill/>
          <a:ln w="6350">
            <a:solidFill>
              <a:srgbClr val="6F6774">
                <a:alpha val="45000"/>
              </a:srgbClr>
            </a:solidFill>
            <a:prstDash val="solid"/>
          </a:ln>
        </p:spPr>
      </p:sp>
      <p:sp>
        <p:nvSpPr>
          <p:cNvPr id="14" name="Shape 12"/>
          <p:cNvSpPr/>
          <p:nvPr/>
        </p:nvSpPr>
        <p:spPr>
          <a:xfrm flipV="1">
            <a:off x="2295144" y="2318004"/>
            <a:ext cx="3593592" cy="1800225"/>
          </a:xfrm>
          <a:prstGeom prst="line">
            <a:avLst/>
          </a:prstGeom>
          <a:noFill/>
          <a:ln w="6350">
            <a:solidFill>
              <a:srgbClr val="6F6774">
                <a:alpha val="45000"/>
              </a:srgbClr>
            </a:solidFill>
            <a:prstDash val="solid"/>
          </a:ln>
        </p:spPr>
      </p:sp>
      <p:sp>
        <p:nvSpPr>
          <p:cNvPr id="15" name="Shape 13"/>
          <p:cNvSpPr/>
          <p:nvPr/>
        </p:nvSpPr>
        <p:spPr>
          <a:xfrm flipV="1">
            <a:off x="2295144" y="3003804"/>
            <a:ext cx="3593592" cy="1114425"/>
          </a:xfrm>
          <a:prstGeom prst="line">
            <a:avLst/>
          </a:prstGeom>
          <a:noFill/>
          <a:ln w="6350">
            <a:solidFill>
              <a:srgbClr val="6F6774">
                <a:alpha val="45000"/>
              </a:srgbClr>
            </a:solidFill>
            <a:prstDash val="solid"/>
          </a:ln>
        </p:spPr>
      </p:sp>
      <p:sp>
        <p:nvSpPr>
          <p:cNvPr id="16" name="Shape 14"/>
          <p:cNvSpPr/>
          <p:nvPr/>
        </p:nvSpPr>
        <p:spPr>
          <a:xfrm flipV="1">
            <a:off x="2295144" y="3689604"/>
            <a:ext cx="3593592" cy="428625"/>
          </a:xfrm>
          <a:prstGeom prst="line">
            <a:avLst/>
          </a:prstGeom>
          <a:noFill/>
          <a:ln w="6350">
            <a:solidFill>
              <a:srgbClr val="6F6774">
                <a:alpha val="45000"/>
              </a:srgbClr>
            </a:solidFill>
            <a:prstDash val="solid"/>
          </a:ln>
        </p:spPr>
      </p:sp>
      <p:sp>
        <p:nvSpPr>
          <p:cNvPr id="17" name="Shape 15"/>
          <p:cNvSpPr/>
          <p:nvPr/>
        </p:nvSpPr>
        <p:spPr>
          <a:xfrm>
            <a:off x="2295144" y="4118229"/>
            <a:ext cx="3593592" cy="257175"/>
          </a:xfrm>
          <a:prstGeom prst="line">
            <a:avLst/>
          </a:prstGeom>
          <a:noFill/>
          <a:ln w="6350">
            <a:solidFill>
              <a:srgbClr val="6F6774">
                <a:alpha val="45000"/>
              </a:srgbClr>
            </a:solidFill>
            <a:prstDash val="solid"/>
          </a:ln>
        </p:spPr>
      </p:sp>
      <p:sp>
        <p:nvSpPr>
          <p:cNvPr id="18" name="Shape 16"/>
          <p:cNvSpPr/>
          <p:nvPr/>
        </p:nvSpPr>
        <p:spPr>
          <a:xfrm>
            <a:off x="2295144" y="4118229"/>
            <a:ext cx="3593592" cy="942975"/>
          </a:xfrm>
          <a:prstGeom prst="line">
            <a:avLst/>
          </a:prstGeom>
          <a:noFill/>
          <a:ln w="6350">
            <a:solidFill>
              <a:srgbClr val="6F6774">
                <a:alpha val="45000"/>
              </a:srgbClr>
            </a:solidFill>
            <a:prstDash val="solid"/>
          </a:ln>
        </p:spPr>
      </p:sp>
      <p:sp>
        <p:nvSpPr>
          <p:cNvPr id="19" name="Shape 17"/>
          <p:cNvSpPr/>
          <p:nvPr/>
        </p:nvSpPr>
        <p:spPr>
          <a:xfrm flipV="1">
            <a:off x="2295144" y="2318004"/>
            <a:ext cx="3593592" cy="2657475"/>
          </a:xfrm>
          <a:prstGeom prst="line">
            <a:avLst/>
          </a:prstGeom>
          <a:noFill/>
          <a:ln w="6350">
            <a:solidFill>
              <a:srgbClr val="6F6774">
                <a:alpha val="45000"/>
              </a:srgbClr>
            </a:solidFill>
            <a:prstDash val="solid"/>
          </a:ln>
        </p:spPr>
      </p:sp>
      <p:sp>
        <p:nvSpPr>
          <p:cNvPr id="20" name="Shape 18"/>
          <p:cNvSpPr/>
          <p:nvPr/>
        </p:nvSpPr>
        <p:spPr>
          <a:xfrm flipV="1">
            <a:off x="2295144" y="3003804"/>
            <a:ext cx="3593592" cy="1971675"/>
          </a:xfrm>
          <a:prstGeom prst="line">
            <a:avLst/>
          </a:prstGeom>
          <a:noFill/>
          <a:ln w="6350">
            <a:solidFill>
              <a:srgbClr val="6F6774">
                <a:alpha val="45000"/>
              </a:srgbClr>
            </a:solidFill>
            <a:prstDash val="solid"/>
          </a:ln>
        </p:spPr>
      </p:sp>
      <p:sp>
        <p:nvSpPr>
          <p:cNvPr id="21" name="Shape 19"/>
          <p:cNvSpPr/>
          <p:nvPr/>
        </p:nvSpPr>
        <p:spPr>
          <a:xfrm flipV="1">
            <a:off x="2295144" y="3689604"/>
            <a:ext cx="3593592" cy="1285875"/>
          </a:xfrm>
          <a:prstGeom prst="line">
            <a:avLst/>
          </a:prstGeom>
          <a:noFill/>
          <a:ln w="6350">
            <a:solidFill>
              <a:srgbClr val="6F6774">
                <a:alpha val="45000"/>
              </a:srgbClr>
            </a:solidFill>
            <a:prstDash val="solid"/>
          </a:ln>
        </p:spPr>
      </p:sp>
      <p:sp>
        <p:nvSpPr>
          <p:cNvPr id="22" name="Shape 20"/>
          <p:cNvSpPr/>
          <p:nvPr/>
        </p:nvSpPr>
        <p:spPr>
          <a:xfrm flipV="1">
            <a:off x="2295144" y="4375404"/>
            <a:ext cx="3593592" cy="600075"/>
          </a:xfrm>
          <a:prstGeom prst="line">
            <a:avLst/>
          </a:prstGeom>
          <a:noFill/>
          <a:ln w="6350">
            <a:solidFill>
              <a:srgbClr val="6F6774">
                <a:alpha val="45000"/>
              </a:srgbClr>
            </a:solidFill>
            <a:prstDash val="solid"/>
          </a:ln>
        </p:spPr>
      </p:sp>
      <p:sp>
        <p:nvSpPr>
          <p:cNvPr id="23" name="Shape 21"/>
          <p:cNvSpPr/>
          <p:nvPr/>
        </p:nvSpPr>
        <p:spPr>
          <a:xfrm>
            <a:off x="2295144" y="4975479"/>
            <a:ext cx="3593592" cy="85725"/>
          </a:xfrm>
          <a:prstGeom prst="line">
            <a:avLst/>
          </a:prstGeom>
          <a:noFill/>
          <a:ln w="6350">
            <a:solidFill>
              <a:srgbClr val="6F6774">
                <a:alpha val="45000"/>
              </a:srgbClr>
            </a:solidFill>
            <a:prstDash val="solid"/>
          </a:ln>
        </p:spPr>
      </p:sp>
      <p:sp>
        <p:nvSpPr>
          <p:cNvPr id="24" name="Shape 22"/>
          <p:cNvSpPr/>
          <p:nvPr/>
        </p:nvSpPr>
        <p:spPr>
          <a:xfrm>
            <a:off x="6272784" y="2318004"/>
            <a:ext cx="3593592" cy="514350"/>
          </a:xfrm>
          <a:prstGeom prst="line">
            <a:avLst/>
          </a:prstGeom>
          <a:noFill/>
          <a:ln w="6350">
            <a:solidFill>
              <a:srgbClr val="6F6774">
                <a:alpha val="45000"/>
              </a:srgbClr>
            </a:solidFill>
            <a:prstDash val="solid"/>
          </a:ln>
        </p:spPr>
      </p:sp>
      <p:sp>
        <p:nvSpPr>
          <p:cNvPr id="25" name="Shape 23"/>
          <p:cNvSpPr/>
          <p:nvPr/>
        </p:nvSpPr>
        <p:spPr>
          <a:xfrm>
            <a:off x="6272784" y="2318004"/>
            <a:ext cx="3593592" cy="2228850"/>
          </a:xfrm>
          <a:prstGeom prst="line">
            <a:avLst/>
          </a:prstGeom>
          <a:noFill/>
          <a:ln w="6350">
            <a:solidFill>
              <a:srgbClr val="6F6774">
                <a:alpha val="45000"/>
              </a:srgbClr>
            </a:solidFill>
            <a:prstDash val="solid"/>
          </a:ln>
        </p:spPr>
      </p:sp>
      <p:sp>
        <p:nvSpPr>
          <p:cNvPr id="26" name="Shape 24"/>
          <p:cNvSpPr/>
          <p:nvPr/>
        </p:nvSpPr>
        <p:spPr>
          <a:xfrm flipV="1">
            <a:off x="6272784" y="2832354"/>
            <a:ext cx="3593592" cy="171450"/>
          </a:xfrm>
          <a:prstGeom prst="line">
            <a:avLst/>
          </a:prstGeom>
          <a:noFill/>
          <a:ln w="6350">
            <a:solidFill>
              <a:srgbClr val="6F6774">
                <a:alpha val="45000"/>
              </a:srgbClr>
            </a:solidFill>
            <a:prstDash val="solid"/>
          </a:ln>
        </p:spPr>
      </p:sp>
      <p:sp>
        <p:nvSpPr>
          <p:cNvPr id="27" name="Shape 25"/>
          <p:cNvSpPr/>
          <p:nvPr/>
        </p:nvSpPr>
        <p:spPr>
          <a:xfrm>
            <a:off x="6272784" y="3003804"/>
            <a:ext cx="3593592" cy="1543050"/>
          </a:xfrm>
          <a:prstGeom prst="line">
            <a:avLst/>
          </a:prstGeom>
          <a:noFill/>
          <a:ln w="6350">
            <a:solidFill>
              <a:srgbClr val="6F6774">
                <a:alpha val="45000"/>
              </a:srgbClr>
            </a:solidFill>
            <a:prstDash val="solid"/>
          </a:ln>
        </p:spPr>
      </p:sp>
      <p:sp>
        <p:nvSpPr>
          <p:cNvPr id="28" name="Shape 26"/>
          <p:cNvSpPr/>
          <p:nvPr/>
        </p:nvSpPr>
        <p:spPr>
          <a:xfrm flipV="1">
            <a:off x="6272784" y="2832354"/>
            <a:ext cx="3593592" cy="857250"/>
          </a:xfrm>
          <a:prstGeom prst="line">
            <a:avLst/>
          </a:prstGeom>
          <a:noFill/>
          <a:ln w="6350">
            <a:solidFill>
              <a:srgbClr val="6F6774">
                <a:alpha val="45000"/>
              </a:srgbClr>
            </a:solidFill>
            <a:prstDash val="solid"/>
          </a:ln>
        </p:spPr>
      </p:sp>
      <p:sp>
        <p:nvSpPr>
          <p:cNvPr id="29" name="Shape 27"/>
          <p:cNvSpPr/>
          <p:nvPr/>
        </p:nvSpPr>
        <p:spPr>
          <a:xfrm>
            <a:off x="6272784" y="3689604"/>
            <a:ext cx="3593592" cy="857250"/>
          </a:xfrm>
          <a:prstGeom prst="line">
            <a:avLst/>
          </a:prstGeom>
          <a:noFill/>
          <a:ln w="6350">
            <a:solidFill>
              <a:srgbClr val="6F6774">
                <a:alpha val="45000"/>
              </a:srgbClr>
            </a:solidFill>
            <a:prstDash val="solid"/>
          </a:ln>
        </p:spPr>
      </p:sp>
      <p:sp>
        <p:nvSpPr>
          <p:cNvPr id="30" name="Shape 28"/>
          <p:cNvSpPr/>
          <p:nvPr/>
        </p:nvSpPr>
        <p:spPr>
          <a:xfrm flipV="1">
            <a:off x="6272784" y="2832354"/>
            <a:ext cx="3593592" cy="1543050"/>
          </a:xfrm>
          <a:prstGeom prst="line">
            <a:avLst/>
          </a:prstGeom>
          <a:noFill/>
          <a:ln w="6350">
            <a:solidFill>
              <a:srgbClr val="6F6774">
                <a:alpha val="45000"/>
              </a:srgbClr>
            </a:solidFill>
            <a:prstDash val="solid"/>
          </a:ln>
        </p:spPr>
      </p:sp>
      <p:sp>
        <p:nvSpPr>
          <p:cNvPr id="31" name="Shape 29"/>
          <p:cNvSpPr/>
          <p:nvPr/>
        </p:nvSpPr>
        <p:spPr>
          <a:xfrm>
            <a:off x="6272784" y="4375404"/>
            <a:ext cx="3593592" cy="171450"/>
          </a:xfrm>
          <a:prstGeom prst="line">
            <a:avLst/>
          </a:prstGeom>
          <a:noFill/>
          <a:ln w="6350">
            <a:solidFill>
              <a:srgbClr val="6F6774">
                <a:alpha val="45000"/>
              </a:srgbClr>
            </a:solidFill>
            <a:prstDash val="solid"/>
          </a:ln>
        </p:spPr>
      </p:sp>
      <p:sp>
        <p:nvSpPr>
          <p:cNvPr id="32" name="Shape 30"/>
          <p:cNvSpPr/>
          <p:nvPr/>
        </p:nvSpPr>
        <p:spPr>
          <a:xfrm flipV="1">
            <a:off x="6272784" y="2832354"/>
            <a:ext cx="3593592" cy="2228850"/>
          </a:xfrm>
          <a:prstGeom prst="line">
            <a:avLst/>
          </a:prstGeom>
          <a:noFill/>
          <a:ln w="6350">
            <a:solidFill>
              <a:srgbClr val="6F6774">
                <a:alpha val="45000"/>
              </a:srgbClr>
            </a:solidFill>
            <a:prstDash val="solid"/>
          </a:ln>
        </p:spPr>
      </p:sp>
      <p:sp>
        <p:nvSpPr>
          <p:cNvPr id="33" name="Shape 31"/>
          <p:cNvSpPr/>
          <p:nvPr/>
        </p:nvSpPr>
        <p:spPr>
          <a:xfrm flipV="1">
            <a:off x="6272784" y="4546854"/>
            <a:ext cx="3593592" cy="514350"/>
          </a:xfrm>
          <a:prstGeom prst="line">
            <a:avLst/>
          </a:prstGeom>
          <a:noFill/>
          <a:ln w="6350">
            <a:solidFill>
              <a:srgbClr val="6F6774">
                <a:alpha val="45000"/>
              </a:srgbClr>
            </a:solidFill>
            <a:prstDash val="solid"/>
          </a:ln>
        </p:spPr>
      </p:sp>
      <p:sp>
        <p:nvSpPr>
          <p:cNvPr id="34" name="Shape 32"/>
          <p:cNvSpPr/>
          <p:nvPr/>
        </p:nvSpPr>
        <p:spPr>
          <a:xfrm>
            <a:off x="2103120" y="2211705"/>
            <a:ext cx="384048" cy="384048"/>
          </a:xfrm>
          <a:prstGeom prst="ellipse">
            <a:avLst/>
          </a:prstGeom>
          <a:solidFill>
            <a:srgbClr val="3D2645"/>
          </a:solidFill>
          <a:ln w="19050">
            <a:solidFill>
              <a:srgbClr val="FFFFFF"/>
            </a:solidFill>
            <a:prstDash val="solid"/>
          </a:ln>
        </p:spPr>
      </p:sp>
      <p:sp>
        <p:nvSpPr>
          <p:cNvPr id="35" name="Shape 33"/>
          <p:cNvSpPr/>
          <p:nvPr/>
        </p:nvSpPr>
        <p:spPr>
          <a:xfrm>
            <a:off x="2103120" y="3068955"/>
            <a:ext cx="384048" cy="384048"/>
          </a:xfrm>
          <a:prstGeom prst="ellipse">
            <a:avLst/>
          </a:prstGeom>
          <a:solidFill>
            <a:srgbClr val="3D2645"/>
          </a:solidFill>
          <a:ln w="19050">
            <a:solidFill>
              <a:srgbClr val="FFFFFF"/>
            </a:solidFill>
            <a:prstDash val="solid"/>
          </a:ln>
        </p:spPr>
      </p:sp>
      <p:sp>
        <p:nvSpPr>
          <p:cNvPr id="36" name="Shape 34"/>
          <p:cNvSpPr/>
          <p:nvPr/>
        </p:nvSpPr>
        <p:spPr>
          <a:xfrm>
            <a:off x="2103120" y="3926205"/>
            <a:ext cx="384048" cy="384048"/>
          </a:xfrm>
          <a:prstGeom prst="ellipse">
            <a:avLst/>
          </a:prstGeom>
          <a:solidFill>
            <a:srgbClr val="3D2645"/>
          </a:solidFill>
          <a:ln w="19050">
            <a:solidFill>
              <a:srgbClr val="FFFFFF"/>
            </a:solidFill>
            <a:prstDash val="solid"/>
          </a:ln>
        </p:spPr>
      </p:sp>
      <p:sp>
        <p:nvSpPr>
          <p:cNvPr id="37" name="Shape 35"/>
          <p:cNvSpPr/>
          <p:nvPr/>
        </p:nvSpPr>
        <p:spPr>
          <a:xfrm>
            <a:off x="2103120" y="4783455"/>
            <a:ext cx="384048" cy="384048"/>
          </a:xfrm>
          <a:prstGeom prst="ellipse">
            <a:avLst/>
          </a:prstGeom>
          <a:solidFill>
            <a:srgbClr val="3D2645"/>
          </a:solidFill>
          <a:ln w="19050">
            <a:solidFill>
              <a:srgbClr val="FFFFFF"/>
            </a:solidFill>
            <a:prstDash val="solid"/>
          </a:ln>
        </p:spPr>
      </p:sp>
      <p:sp>
        <p:nvSpPr>
          <p:cNvPr id="38" name="Text 36"/>
          <p:cNvSpPr txBox="1"/>
          <p:nvPr/>
        </p:nvSpPr>
        <p:spPr>
          <a:xfrm>
            <a:off x="1188720" y="5532120"/>
            <a:ext cx="2560320" cy="320040"/>
          </a:xfrm>
          <a:prstGeom prst="rect">
            <a:avLst/>
          </a:prstGeom>
          <a:noFill/>
          <a:ln/>
        </p:spPr>
        <p:txBody>
          <a:bodyPr wrap="square" lIns="0" tIns="0" rIns="0" bIns="0" rtlCol="0" anchor="ctr"/>
          <a:lstStyle/>
          <a:p>
            <a:pPr algn="ctr" indent="0" marL="0">
              <a:buNone/>
            </a:pPr>
            <a:r>
              <a:rPr lang="en-US" sz="1500" b="1" dirty="0">
                <a:solidFill>
                  <a:srgbClr val="3D2645"/>
                </a:solidFill>
                <a:latin typeface="Cambria" pitchFamily="34" charset="0"/>
                <a:ea typeface="Cambria" pitchFamily="34" charset="-122"/>
                <a:cs typeface="Cambria" pitchFamily="34" charset="-120"/>
              </a:rPr>
              <a:t>Input Layer</a:t>
            </a:r>
            <a:endParaRPr lang="en-US" sz="1500" dirty="0"/>
          </a:p>
        </p:txBody>
      </p:sp>
      <p:sp>
        <p:nvSpPr>
          <p:cNvPr id="39" name="Text 37"/>
          <p:cNvSpPr txBox="1"/>
          <p:nvPr/>
        </p:nvSpPr>
        <p:spPr>
          <a:xfrm>
            <a:off x="1188720" y="5852160"/>
            <a:ext cx="2560320" cy="320040"/>
          </a:xfrm>
          <a:prstGeom prst="rect">
            <a:avLst/>
          </a:prstGeom>
          <a:noFill/>
          <a:ln/>
        </p:spPr>
        <p:txBody>
          <a:bodyPr wrap="square" lIns="0" tIns="0" rIns="0" bIns="0" rtlCol="0" anchor="ctr"/>
          <a:lstStyle/>
          <a:p>
            <a:pPr algn="ctr" indent="0" marL="0">
              <a:buNone/>
            </a:pPr>
            <a:r>
              <a:rPr lang="en-US" sz="1100" dirty="0">
                <a:solidFill>
                  <a:srgbClr val="6F6774"/>
                </a:solidFill>
                <a:latin typeface="Calibri" pitchFamily="34" charset="0"/>
                <a:ea typeface="Calibri" pitchFamily="34" charset="-122"/>
                <a:cs typeface="Calibri" pitchFamily="34" charset="-120"/>
              </a:rPr>
              <a:t>Features (x₁...x₄)</a:t>
            </a:r>
            <a:endParaRPr lang="en-US" sz="1100" dirty="0"/>
          </a:p>
        </p:txBody>
      </p:sp>
      <p:sp>
        <p:nvSpPr>
          <p:cNvPr id="40" name="Shape 38"/>
          <p:cNvSpPr/>
          <p:nvPr/>
        </p:nvSpPr>
        <p:spPr>
          <a:xfrm>
            <a:off x="6080760" y="2125980"/>
            <a:ext cx="384048" cy="384048"/>
          </a:xfrm>
          <a:prstGeom prst="ellipse">
            <a:avLst/>
          </a:prstGeom>
          <a:solidFill>
            <a:srgbClr val="C9932E"/>
          </a:solidFill>
          <a:ln w="19050">
            <a:solidFill>
              <a:srgbClr val="FFFFFF"/>
            </a:solidFill>
            <a:prstDash val="solid"/>
          </a:ln>
        </p:spPr>
      </p:sp>
      <p:sp>
        <p:nvSpPr>
          <p:cNvPr id="41" name="Shape 39"/>
          <p:cNvSpPr/>
          <p:nvPr/>
        </p:nvSpPr>
        <p:spPr>
          <a:xfrm>
            <a:off x="6080760" y="2811780"/>
            <a:ext cx="384048" cy="384048"/>
          </a:xfrm>
          <a:prstGeom prst="ellipse">
            <a:avLst/>
          </a:prstGeom>
          <a:solidFill>
            <a:srgbClr val="C9932E"/>
          </a:solidFill>
          <a:ln w="19050">
            <a:solidFill>
              <a:srgbClr val="FFFFFF"/>
            </a:solidFill>
            <a:prstDash val="solid"/>
          </a:ln>
        </p:spPr>
      </p:sp>
      <p:sp>
        <p:nvSpPr>
          <p:cNvPr id="42" name="Shape 40"/>
          <p:cNvSpPr/>
          <p:nvPr/>
        </p:nvSpPr>
        <p:spPr>
          <a:xfrm>
            <a:off x="6080760" y="3497580"/>
            <a:ext cx="384048" cy="384048"/>
          </a:xfrm>
          <a:prstGeom prst="ellipse">
            <a:avLst/>
          </a:prstGeom>
          <a:solidFill>
            <a:srgbClr val="C9932E"/>
          </a:solidFill>
          <a:ln w="19050">
            <a:solidFill>
              <a:srgbClr val="FFFFFF"/>
            </a:solidFill>
            <a:prstDash val="solid"/>
          </a:ln>
        </p:spPr>
      </p:sp>
      <p:sp>
        <p:nvSpPr>
          <p:cNvPr id="43" name="Shape 41"/>
          <p:cNvSpPr/>
          <p:nvPr/>
        </p:nvSpPr>
        <p:spPr>
          <a:xfrm>
            <a:off x="6080760" y="4183380"/>
            <a:ext cx="384048" cy="384048"/>
          </a:xfrm>
          <a:prstGeom prst="ellipse">
            <a:avLst/>
          </a:prstGeom>
          <a:solidFill>
            <a:srgbClr val="C9932E"/>
          </a:solidFill>
          <a:ln w="19050">
            <a:solidFill>
              <a:srgbClr val="FFFFFF"/>
            </a:solidFill>
            <a:prstDash val="solid"/>
          </a:ln>
        </p:spPr>
      </p:sp>
      <p:sp>
        <p:nvSpPr>
          <p:cNvPr id="44" name="Shape 42"/>
          <p:cNvSpPr/>
          <p:nvPr/>
        </p:nvSpPr>
        <p:spPr>
          <a:xfrm>
            <a:off x="6080760" y="4869180"/>
            <a:ext cx="384048" cy="384048"/>
          </a:xfrm>
          <a:prstGeom prst="ellipse">
            <a:avLst/>
          </a:prstGeom>
          <a:solidFill>
            <a:srgbClr val="C9932E"/>
          </a:solidFill>
          <a:ln w="19050">
            <a:solidFill>
              <a:srgbClr val="FFFFFF"/>
            </a:solidFill>
            <a:prstDash val="solid"/>
          </a:ln>
        </p:spPr>
      </p:sp>
      <p:sp>
        <p:nvSpPr>
          <p:cNvPr id="45" name="Text 43"/>
          <p:cNvSpPr txBox="1"/>
          <p:nvPr/>
        </p:nvSpPr>
        <p:spPr>
          <a:xfrm>
            <a:off x="5166360" y="5532120"/>
            <a:ext cx="2560320" cy="320040"/>
          </a:xfrm>
          <a:prstGeom prst="rect">
            <a:avLst/>
          </a:prstGeom>
          <a:noFill/>
          <a:ln/>
        </p:spPr>
        <p:txBody>
          <a:bodyPr wrap="square" lIns="0" tIns="0" rIns="0" bIns="0" rtlCol="0" anchor="ctr"/>
          <a:lstStyle/>
          <a:p>
            <a:pPr algn="ctr" indent="0" marL="0">
              <a:buNone/>
            </a:pPr>
            <a:r>
              <a:rPr lang="en-US" sz="1500" b="1" dirty="0">
                <a:solidFill>
                  <a:srgbClr val="3D2645"/>
                </a:solidFill>
                <a:latin typeface="Cambria" pitchFamily="34" charset="0"/>
                <a:ea typeface="Cambria" pitchFamily="34" charset="-122"/>
                <a:cs typeface="Cambria" pitchFamily="34" charset="-120"/>
              </a:rPr>
              <a:t>Hidden Layer</a:t>
            </a:r>
            <a:endParaRPr lang="en-US" sz="1500" dirty="0"/>
          </a:p>
        </p:txBody>
      </p:sp>
      <p:sp>
        <p:nvSpPr>
          <p:cNvPr id="46" name="Text 44"/>
          <p:cNvSpPr txBox="1"/>
          <p:nvPr/>
        </p:nvSpPr>
        <p:spPr>
          <a:xfrm>
            <a:off x="5166360" y="5852160"/>
            <a:ext cx="2560320" cy="320040"/>
          </a:xfrm>
          <a:prstGeom prst="rect">
            <a:avLst/>
          </a:prstGeom>
          <a:noFill/>
          <a:ln/>
        </p:spPr>
        <p:txBody>
          <a:bodyPr wrap="square" lIns="0" tIns="0" rIns="0" bIns="0" rtlCol="0" anchor="ctr"/>
          <a:lstStyle/>
          <a:p>
            <a:pPr algn="ctr" indent="0" marL="0">
              <a:buNone/>
            </a:pPr>
            <a:r>
              <a:rPr lang="en-US" sz="1100" dirty="0">
                <a:solidFill>
                  <a:srgbClr val="6F6774"/>
                </a:solidFill>
                <a:latin typeface="Calibri" pitchFamily="34" charset="0"/>
                <a:ea typeface="Calibri" pitchFamily="34" charset="-122"/>
                <a:cs typeface="Calibri" pitchFamily="34" charset="-120"/>
              </a:rPr>
              <a:t>Learns internal patterns</a:t>
            </a:r>
            <a:endParaRPr lang="en-US" sz="1100" dirty="0"/>
          </a:p>
        </p:txBody>
      </p:sp>
      <p:sp>
        <p:nvSpPr>
          <p:cNvPr id="47" name="Shape 45"/>
          <p:cNvSpPr/>
          <p:nvPr/>
        </p:nvSpPr>
        <p:spPr>
          <a:xfrm>
            <a:off x="10058400" y="2640330"/>
            <a:ext cx="384048" cy="384048"/>
          </a:xfrm>
          <a:prstGeom prst="ellipse">
            <a:avLst/>
          </a:prstGeom>
          <a:solidFill>
            <a:srgbClr val="3D2645"/>
          </a:solidFill>
          <a:ln w="19050">
            <a:solidFill>
              <a:srgbClr val="FFFFFF"/>
            </a:solidFill>
            <a:prstDash val="solid"/>
          </a:ln>
        </p:spPr>
      </p:sp>
      <p:sp>
        <p:nvSpPr>
          <p:cNvPr id="48" name="Shape 46"/>
          <p:cNvSpPr/>
          <p:nvPr/>
        </p:nvSpPr>
        <p:spPr>
          <a:xfrm>
            <a:off x="10058400" y="4354830"/>
            <a:ext cx="384048" cy="384048"/>
          </a:xfrm>
          <a:prstGeom prst="ellipse">
            <a:avLst/>
          </a:prstGeom>
          <a:solidFill>
            <a:srgbClr val="3D2645"/>
          </a:solidFill>
          <a:ln w="19050">
            <a:solidFill>
              <a:srgbClr val="FFFFFF"/>
            </a:solidFill>
            <a:prstDash val="solid"/>
          </a:ln>
        </p:spPr>
      </p:sp>
      <p:sp>
        <p:nvSpPr>
          <p:cNvPr id="49" name="Text 47"/>
          <p:cNvSpPr txBox="1"/>
          <p:nvPr/>
        </p:nvSpPr>
        <p:spPr>
          <a:xfrm>
            <a:off x="9144000" y="5532120"/>
            <a:ext cx="2560320" cy="320040"/>
          </a:xfrm>
          <a:prstGeom prst="rect">
            <a:avLst/>
          </a:prstGeom>
          <a:noFill/>
          <a:ln/>
        </p:spPr>
        <p:txBody>
          <a:bodyPr wrap="square" lIns="0" tIns="0" rIns="0" bIns="0" rtlCol="0" anchor="ctr"/>
          <a:lstStyle/>
          <a:p>
            <a:pPr algn="ctr" indent="0" marL="0">
              <a:buNone/>
            </a:pPr>
            <a:r>
              <a:rPr lang="en-US" sz="1500" b="1" dirty="0">
                <a:solidFill>
                  <a:srgbClr val="3D2645"/>
                </a:solidFill>
                <a:latin typeface="Cambria" pitchFamily="34" charset="0"/>
                <a:ea typeface="Cambria" pitchFamily="34" charset="-122"/>
                <a:cs typeface="Cambria" pitchFamily="34" charset="-120"/>
              </a:rPr>
              <a:t>Output Layer</a:t>
            </a:r>
            <a:endParaRPr lang="en-US" sz="1500" dirty="0"/>
          </a:p>
        </p:txBody>
      </p:sp>
      <p:sp>
        <p:nvSpPr>
          <p:cNvPr id="50" name="Text 48"/>
          <p:cNvSpPr txBox="1"/>
          <p:nvPr/>
        </p:nvSpPr>
        <p:spPr>
          <a:xfrm>
            <a:off x="9144000" y="5852160"/>
            <a:ext cx="2560320" cy="320040"/>
          </a:xfrm>
          <a:prstGeom prst="rect">
            <a:avLst/>
          </a:prstGeom>
          <a:noFill/>
          <a:ln/>
        </p:spPr>
        <p:txBody>
          <a:bodyPr wrap="square" lIns="0" tIns="0" rIns="0" bIns="0" rtlCol="0" anchor="ctr"/>
          <a:lstStyle/>
          <a:p>
            <a:pPr algn="ctr" indent="0" marL="0">
              <a:buNone/>
            </a:pPr>
            <a:r>
              <a:rPr lang="en-US" sz="1100" dirty="0">
                <a:solidFill>
                  <a:srgbClr val="6F6774"/>
                </a:solidFill>
                <a:latin typeface="Calibri" pitchFamily="34" charset="0"/>
                <a:ea typeface="Calibri" pitchFamily="34" charset="-122"/>
                <a:cs typeface="Calibri" pitchFamily="34" charset="-120"/>
              </a:rPr>
              <a:t>Predicted class / value</a:t>
            </a:r>
            <a:endParaRPr lang="en-US" sz="1100" dirty="0"/>
          </a:p>
        </p:txBody>
      </p:sp>
      <p:sp>
        <p:nvSpPr>
          <p:cNvPr id="51" name="Text 49"/>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52" name="Text 50"/>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NON-LINEARITY</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Activation Functions Studied</a:t>
            </a:r>
            <a:endParaRPr lang="en-US" sz="3000" dirty="0"/>
          </a:p>
        </p:txBody>
      </p:sp>
      <p:sp>
        <p:nvSpPr>
          <p:cNvPr id="4" name="Shape 2"/>
          <p:cNvSpPr/>
          <p:nvPr/>
        </p:nvSpPr>
        <p:spPr>
          <a:xfrm>
            <a:off x="548640" y="1737360"/>
            <a:ext cx="3520440" cy="4206240"/>
          </a:xfrm>
          <a:prstGeom prst="rect">
            <a:avLst/>
          </a:prstGeom>
          <a:solidFill>
            <a:srgbClr val="F7F4F2"/>
          </a:solidFill>
          <a:ln w="12700">
            <a:solidFill>
              <a:srgbClr val="E7E1DD"/>
            </a:solidFill>
            <a:prstDash val="solid"/>
          </a:ln>
        </p:spPr>
      </p:sp>
      <p:sp>
        <p:nvSpPr>
          <p:cNvPr id="5" name="Shape 3"/>
          <p:cNvSpPr/>
          <p:nvPr/>
        </p:nvSpPr>
        <p:spPr>
          <a:xfrm>
            <a:off x="2061972" y="2057400"/>
            <a:ext cx="493776" cy="493776"/>
          </a:xfrm>
          <a:prstGeom prst="ellipse">
            <a:avLst/>
          </a:prstGeom>
          <a:solidFill>
            <a:srgbClr val="C9932E"/>
          </a:solidFill>
          <a:ln/>
        </p:spPr>
      </p:sp>
      <p:sp>
        <p:nvSpPr>
          <p:cNvPr id="6" name="Text 4"/>
          <p:cNvSpPr txBox="1"/>
          <p:nvPr/>
        </p:nvSpPr>
        <p:spPr>
          <a:xfrm>
            <a:off x="2061972" y="2057400"/>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48640" y="2788920"/>
            <a:ext cx="3520440" cy="365760"/>
          </a:xfrm>
          <a:prstGeom prst="rect">
            <a:avLst/>
          </a:prstGeom>
          <a:noFill/>
          <a:ln/>
        </p:spPr>
        <p:txBody>
          <a:bodyPr wrap="square" lIns="0" tIns="0" rIns="0" bIns="0" rtlCol="0" anchor="ctr"/>
          <a:lstStyle/>
          <a:p>
            <a:pPr algn="ctr" indent="0" marL="0">
              <a:buNone/>
            </a:pPr>
            <a:r>
              <a:rPr lang="en-US" sz="1800" b="1" dirty="0">
                <a:solidFill>
                  <a:srgbClr val="3D2645"/>
                </a:solidFill>
                <a:latin typeface="Cambria" pitchFamily="34" charset="0"/>
                <a:ea typeface="Cambria" pitchFamily="34" charset="-122"/>
                <a:cs typeface="Cambria" pitchFamily="34" charset="-120"/>
              </a:rPr>
              <a:t>Sigmoid</a:t>
            </a:r>
            <a:endParaRPr lang="en-US" sz="1800" dirty="0"/>
          </a:p>
        </p:txBody>
      </p:sp>
      <p:sp>
        <p:nvSpPr>
          <p:cNvPr id="8" name="Shape 6"/>
          <p:cNvSpPr/>
          <p:nvPr/>
        </p:nvSpPr>
        <p:spPr>
          <a:xfrm>
            <a:off x="868680" y="3337560"/>
            <a:ext cx="2880360" cy="594360"/>
          </a:xfrm>
          <a:prstGeom prst="rect">
            <a:avLst/>
          </a:prstGeom>
          <a:solidFill>
            <a:srgbClr val="3D2645"/>
          </a:solidFill>
          <a:ln/>
        </p:spPr>
      </p:sp>
      <p:sp>
        <p:nvSpPr>
          <p:cNvPr id="9" name="Text 7"/>
          <p:cNvSpPr txBox="1"/>
          <p:nvPr/>
        </p:nvSpPr>
        <p:spPr>
          <a:xfrm>
            <a:off x="868680" y="3337560"/>
            <a:ext cx="2880360" cy="594360"/>
          </a:xfrm>
          <a:prstGeom prst="rect">
            <a:avLst/>
          </a:prstGeom>
          <a:noFill/>
          <a:ln/>
        </p:spPr>
        <p:txBody>
          <a:bodyPr wrap="square" lIns="0" tIns="0" rIns="0" bIns="0" rtlCol="0" anchor="ctr"/>
          <a:lstStyle/>
          <a:p>
            <a:pPr algn="ctr" indent="0" marL="0">
              <a:buNone/>
            </a:pPr>
            <a:r>
              <a:rPr lang="en-US" sz="1350" b="1" dirty="0">
                <a:solidFill>
                  <a:srgbClr val="E8C978"/>
                </a:solidFill>
                <a:latin typeface="Courier New" pitchFamily="34" charset="0"/>
                <a:ea typeface="Courier New" pitchFamily="34" charset="-122"/>
                <a:cs typeface="Courier New" pitchFamily="34" charset="-120"/>
              </a:rPr>
              <a:t>f(x) = 1 / (1 + e⁻ˣ)</a:t>
            </a:r>
            <a:endParaRPr lang="en-US" sz="1350" dirty="0"/>
          </a:p>
        </p:txBody>
      </p:sp>
      <p:sp>
        <p:nvSpPr>
          <p:cNvPr id="10" name="Text 8"/>
          <p:cNvSpPr txBox="1"/>
          <p:nvPr/>
        </p:nvSpPr>
        <p:spPr>
          <a:xfrm>
            <a:off x="841248" y="4160520"/>
            <a:ext cx="2935224" cy="1554480"/>
          </a:xfrm>
          <a:prstGeom prst="rect">
            <a:avLst/>
          </a:prstGeom>
          <a:noFill/>
          <a:ln/>
        </p:spPr>
        <p:txBody>
          <a:bodyPr wrap="square" lIns="0" tIns="0" rIns="0" bIns="0" rtlCol="0" anchor="t"/>
          <a:lstStyle/>
          <a:p>
            <a:pPr algn="ctr" indent="0" marL="0">
              <a:lnSpc>
                <a:spcPct val="125000"/>
              </a:lnSpc>
              <a:buNone/>
            </a:pPr>
            <a:r>
              <a:rPr lang="en-US" sz="1200" dirty="0">
                <a:solidFill>
                  <a:srgbClr val="6F6774"/>
                </a:solidFill>
                <a:latin typeface="Calibri" pitchFamily="34" charset="0"/>
                <a:ea typeface="Calibri" pitchFamily="34" charset="-122"/>
                <a:cs typeface="Calibri" pitchFamily="34" charset="-120"/>
              </a:rPr>
              <a:t>Squashes output to (0, 1); used for binary probabilities</a:t>
            </a:r>
            <a:endParaRPr lang="en-US" sz="1200" dirty="0"/>
          </a:p>
        </p:txBody>
      </p:sp>
      <p:sp>
        <p:nvSpPr>
          <p:cNvPr id="11" name="Shape 9"/>
          <p:cNvSpPr/>
          <p:nvPr/>
        </p:nvSpPr>
        <p:spPr>
          <a:xfrm>
            <a:off x="4389120" y="1737360"/>
            <a:ext cx="3520440" cy="4206240"/>
          </a:xfrm>
          <a:prstGeom prst="rect">
            <a:avLst/>
          </a:prstGeom>
          <a:solidFill>
            <a:srgbClr val="F7F4F2"/>
          </a:solidFill>
          <a:ln w="12700">
            <a:solidFill>
              <a:srgbClr val="E7E1DD"/>
            </a:solidFill>
            <a:prstDash val="solid"/>
          </a:ln>
        </p:spPr>
      </p:sp>
      <p:sp>
        <p:nvSpPr>
          <p:cNvPr id="12" name="Shape 10"/>
          <p:cNvSpPr/>
          <p:nvPr/>
        </p:nvSpPr>
        <p:spPr>
          <a:xfrm>
            <a:off x="5902452" y="2057400"/>
            <a:ext cx="493776" cy="493776"/>
          </a:xfrm>
          <a:prstGeom prst="ellipse">
            <a:avLst/>
          </a:prstGeom>
          <a:solidFill>
            <a:srgbClr val="C9932E"/>
          </a:solidFill>
          <a:ln/>
        </p:spPr>
      </p:sp>
      <p:sp>
        <p:nvSpPr>
          <p:cNvPr id="13" name="Text 11"/>
          <p:cNvSpPr txBox="1"/>
          <p:nvPr/>
        </p:nvSpPr>
        <p:spPr>
          <a:xfrm>
            <a:off x="5902452" y="2057400"/>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389120" y="2788920"/>
            <a:ext cx="3520440" cy="365760"/>
          </a:xfrm>
          <a:prstGeom prst="rect">
            <a:avLst/>
          </a:prstGeom>
          <a:noFill/>
          <a:ln/>
        </p:spPr>
        <p:txBody>
          <a:bodyPr wrap="square" lIns="0" tIns="0" rIns="0" bIns="0" rtlCol="0" anchor="ctr"/>
          <a:lstStyle/>
          <a:p>
            <a:pPr algn="ctr" indent="0" marL="0">
              <a:buNone/>
            </a:pPr>
            <a:r>
              <a:rPr lang="en-US" sz="1800" b="1" dirty="0">
                <a:solidFill>
                  <a:srgbClr val="3D2645"/>
                </a:solidFill>
                <a:latin typeface="Cambria" pitchFamily="34" charset="0"/>
                <a:ea typeface="Cambria" pitchFamily="34" charset="-122"/>
                <a:cs typeface="Cambria" pitchFamily="34" charset="-120"/>
              </a:rPr>
              <a:t>ReLU</a:t>
            </a:r>
            <a:endParaRPr lang="en-US" sz="1800" dirty="0"/>
          </a:p>
        </p:txBody>
      </p:sp>
      <p:sp>
        <p:nvSpPr>
          <p:cNvPr id="15" name="Shape 13"/>
          <p:cNvSpPr/>
          <p:nvPr/>
        </p:nvSpPr>
        <p:spPr>
          <a:xfrm>
            <a:off x="4709160" y="3337560"/>
            <a:ext cx="2880360" cy="594360"/>
          </a:xfrm>
          <a:prstGeom prst="rect">
            <a:avLst/>
          </a:prstGeom>
          <a:solidFill>
            <a:srgbClr val="3D2645"/>
          </a:solidFill>
          <a:ln/>
        </p:spPr>
      </p:sp>
      <p:sp>
        <p:nvSpPr>
          <p:cNvPr id="16" name="Text 14"/>
          <p:cNvSpPr txBox="1"/>
          <p:nvPr/>
        </p:nvSpPr>
        <p:spPr>
          <a:xfrm>
            <a:off x="4709160" y="3337560"/>
            <a:ext cx="2880360" cy="594360"/>
          </a:xfrm>
          <a:prstGeom prst="rect">
            <a:avLst/>
          </a:prstGeom>
          <a:noFill/>
          <a:ln/>
        </p:spPr>
        <p:txBody>
          <a:bodyPr wrap="square" lIns="0" tIns="0" rIns="0" bIns="0" rtlCol="0" anchor="ctr"/>
          <a:lstStyle/>
          <a:p>
            <a:pPr algn="ctr" indent="0" marL="0">
              <a:buNone/>
            </a:pPr>
            <a:r>
              <a:rPr lang="en-US" sz="1350" b="1" dirty="0">
                <a:solidFill>
                  <a:srgbClr val="E8C978"/>
                </a:solidFill>
                <a:latin typeface="Courier New" pitchFamily="34" charset="0"/>
                <a:ea typeface="Courier New" pitchFamily="34" charset="-122"/>
                <a:cs typeface="Courier New" pitchFamily="34" charset="-120"/>
              </a:rPr>
              <a:t>f(x) = max(0, x)</a:t>
            </a:r>
            <a:endParaRPr lang="en-US" sz="1350" dirty="0"/>
          </a:p>
        </p:txBody>
      </p:sp>
      <p:sp>
        <p:nvSpPr>
          <p:cNvPr id="17" name="Text 15"/>
          <p:cNvSpPr txBox="1"/>
          <p:nvPr/>
        </p:nvSpPr>
        <p:spPr>
          <a:xfrm>
            <a:off x="4681728" y="4160520"/>
            <a:ext cx="2935224" cy="1554480"/>
          </a:xfrm>
          <a:prstGeom prst="rect">
            <a:avLst/>
          </a:prstGeom>
          <a:noFill/>
          <a:ln/>
        </p:spPr>
        <p:txBody>
          <a:bodyPr wrap="square" lIns="0" tIns="0" rIns="0" bIns="0" rtlCol="0" anchor="t"/>
          <a:lstStyle/>
          <a:p>
            <a:pPr algn="ctr" indent="0" marL="0">
              <a:lnSpc>
                <a:spcPct val="125000"/>
              </a:lnSpc>
              <a:buNone/>
            </a:pPr>
            <a:r>
              <a:rPr lang="en-US" sz="1200" dirty="0">
                <a:solidFill>
                  <a:srgbClr val="6F6774"/>
                </a:solidFill>
                <a:latin typeface="Calibri" pitchFamily="34" charset="0"/>
                <a:ea typeface="Calibri" pitchFamily="34" charset="-122"/>
                <a:cs typeface="Calibri" pitchFamily="34" charset="-120"/>
              </a:rPr>
              <a:t>Fast, avoids vanishing gradients; default for hidden layers</a:t>
            </a:r>
            <a:endParaRPr lang="en-US" sz="1200" dirty="0"/>
          </a:p>
        </p:txBody>
      </p:sp>
      <p:sp>
        <p:nvSpPr>
          <p:cNvPr id="18" name="Shape 16"/>
          <p:cNvSpPr/>
          <p:nvPr/>
        </p:nvSpPr>
        <p:spPr>
          <a:xfrm>
            <a:off x="8229600" y="1737360"/>
            <a:ext cx="3520440" cy="4206240"/>
          </a:xfrm>
          <a:prstGeom prst="rect">
            <a:avLst/>
          </a:prstGeom>
          <a:solidFill>
            <a:srgbClr val="F7F4F2"/>
          </a:solidFill>
          <a:ln w="12700">
            <a:solidFill>
              <a:srgbClr val="E7E1DD"/>
            </a:solidFill>
            <a:prstDash val="solid"/>
          </a:ln>
        </p:spPr>
      </p:sp>
      <p:sp>
        <p:nvSpPr>
          <p:cNvPr id="19" name="Shape 17"/>
          <p:cNvSpPr/>
          <p:nvPr/>
        </p:nvSpPr>
        <p:spPr>
          <a:xfrm>
            <a:off x="9742932" y="2057400"/>
            <a:ext cx="493776" cy="493776"/>
          </a:xfrm>
          <a:prstGeom prst="ellipse">
            <a:avLst/>
          </a:prstGeom>
          <a:solidFill>
            <a:srgbClr val="C9932E"/>
          </a:solidFill>
          <a:ln/>
        </p:spPr>
      </p:sp>
      <p:sp>
        <p:nvSpPr>
          <p:cNvPr id="20" name="Text 18"/>
          <p:cNvSpPr txBox="1"/>
          <p:nvPr/>
        </p:nvSpPr>
        <p:spPr>
          <a:xfrm>
            <a:off x="9742932" y="2057400"/>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29600" y="2788920"/>
            <a:ext cx="3520440" cy="365760"/>
          </a:xfrm>
          <a:prstGeom prst="rect">
            <a:avLst/>
          </a:prstGeom>
          <a:noFill/>
          <a:ln/>
        </p:spPr>
        <p:txBody>
          <a:bodyPr wrap="square" lIns="0" tIns="0" rIns="0" bIns="0" rtlCol="0" anchor="ctr"/>
          <a:lstStyle/>
          <a:p>
            <a:pPr algn="ctr" indent="0" marL="0">
              <a:buNone/>
            </a:pPr>
            <a:r>
              <a:rPr lang="en-US" sz="1800" b="1" dirty="0">
                <a:solidFill>
                  <a:srgbClr val="3D2645"/>
                </a:solidFill>
                <a:latin typeface="Cambria" pitchFamily="34" charset="0"/>
                <a:ea typeface="Cambria" pitchFamily="34" charset="-122"/>
                <a:cs typeface="Cambria" pitchFamily="34" charset="-120"/>
              </a:rPr>
              <a:t>Tanh</a:t>
            </a:r>
            <a:endParaRPr lang="en-US" sz="1800" dirty="0"/>
          </a:p>
        </p:txBody>
      </p:sp>
      <p:sp>
        <p:nvSpPr>
          <p:cNvPr id="22" name="Shape 20"/>
          <p:cNvSpPr/>
          <p:nvPr/>
        </p:nvSpPr>
        <p:spPr>
          <a:xfrm>
            <a:off x="8549640" y="3337560"/>
            <a:ext cx="2880360" cy="594360"/>
          </a:xfrm>
          <a:prstGeom prst="rect">
            <a:avLst/>
          </a:prstGeom>
          <a:solidFill>
            <a:srgbClr val="3D2645"/>
          </a:solidFill>
          <a:ln/>
        </p:spPr>
      </p:sp>
      <p:sp>
        <p:nvSpPr>
          <p:cNvPr id="23" name="Text 21"/>
          <p:cNvSpPr txBox="1"/>
          <p:nvPr/>
        </p:nvSpPr>
        <p:spPr>
          <a:xfrm>
            <a:off x="8549640" y="3337560"/>
            <a:ext cx="2880360" cy="594360"/>
          </a:xfrm>
          <a:prstGeom prst="rect">
            <a:avLst/>
          </a:prstGeom>
          <a:noFill/>
          <a:ln/>
        </p:spPr>
        <p:txBody>
          <a:bodyPr wrap="square" lIns="0" tIns="0" rIns="0" bIns="0" rtlCol="0" anchor="ctr"/>
          <a:lstStyle/>
          <a:p>
            <a:pPr algn="ctr" indent="0" marL="0">
              <a:buNone/>
            </a:pPr>
            <a:r>
              <a:rPr lang="en-US" sz="1350" b="1" dirty="0">
                <a:solidFill>
                  <a:srgbClr val="E8C978"/>
                </a:solidFill>
                <a:latin typeface="Courier New" pitchFamily="34" charset="0"/>
                <a:ea typeface="Courier New" pitchFamily="34" charset="-122"/>
                <a:cs typeface="Courier New" pitchFamily="34" charset="-120"/>
              </a:rPr>
              <a:t>f(x) = tanh(x)</a:t>
            </a:r>
            <a:endParaRPr lang="en-US" sz="1350" dirty="0"/>
          </a:p>
        </p:txBody>
      </p:sp>
      <p:sp>
        <p:nvSpPr>
          <p:cNvPr id="24" name="Text 22"/>
          <p:cNvSpPr txBox="1"/>
          <p:nvPr/>
        </p:nvSpPr>
        <p:spPr>
          <a:xfrm>
            <a:off x="8522208" y="4160520"/>
            <a:ext cx="2935224" cy="1554480"/>
          </a:xfrm>
          <a:prstGeom prst="rect">
            <a:avLst/>
          </a:prstGeom>
          <a:noFill/>
          <a:ln/>
        </p:spPr>
        <p:txBody>
          <a:bodyPr wrap="square" lIns="0" tIns="0" rIns="0" bIns="0" rtlCol="0" anchor="t"/>
          <a:lstStyle/>
          <a:p>
            <a:pPr algn="ctr" indent="0" marL="0">
              <a:lnSpc>
                <a:spcPct val="125000"/>
              </a:lnSpc>
              <a:buNone/>
            </a:pPr>
            <a:r>
              <a:rPr lang="en-US" sz="1200" dirty="0">
                <a:solidFill>
                  <a:srgbClr val="6F6774"/>
                </a:solidFill>
                <a:latin typeface="Calibri" pitchFamily="34" charset="0"/>
                <a:ea typeface="Calibri" pitchFamily="34" charset="-122"/>
                <a:cs typeface="Calibri" pitchFamily="34" charset="-120"/>
              </a:rPr>
              <a:t>Zero-centred output in (-1, 1); often faster convergence</a:t>
            </a:r>
            <a:endParaRPr lang="en-US" sz="1200" dirty="0"/>
          </a:p>
        </p:txBody>
      </p:sp>
      <p:sp>
        <p:nvSpPr>
          <p:cNvPr id="25" name="Text 23"/>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26" name="Text 24"/>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HOW THE NETWORK LEARNS</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Forward Propagation &amp; Backpropagation</a:t>
            </a:r>
            <a:endParaRPr lang="en-US" sz="3000" dirty="0"/>
          </a:p>
        </p:txBody>
      </p:sp>
      <p:sp>
        <p:nvSpPr>
          <p:cNvPr id="4" name="Text 2"/>
          <p:cNvSpPr txBox="1"/>
          <p:nvPr/>
        </p:nvSpPr>
        <p:spPr>
          <a:xfrm>
            <a:off x="548640" y="1581912"/>
            <a:ext cx="7315200" cy="274320"/>
          </a:xfrm>
          <a:prstGeom prst="rect">
            <a:avLst/>
          </a:prstGeom>
          <a:noFill/>
          <a:ln/>
        </p:spPr>
        <p:txBody>
          <a:bodyPr wrap="square" lIns="0" tIns="0" rIns="0" bIns="0" rtlCol="0" anchor="ctr"/>
          <a:lstStyle/>
          <a:p>
            <a:pPr indent="0" marL="0">
              <a:buNone/>
            </a:pPr>
            <a:r>
              <a:rPr lang="en-US" sz="1200" b="1" spc="120" kern="0" dirty="0">
                <a:solidFill>
                  <a:srgbClr val="C9932E"/>
                </a:solidFill>
                <a:latin typeface="Calibri" pitchFamily="34" charset="0"/>
                <a:ea typeface="Calibri" pitchFamily="34" charset="-122"/>
                <a:cs typeface="Calibri" pitchFamily="34" charset="-120"/>
              </a:rPr>
              <a:t>FORWARD PROPAGATION</a:t>
            </a:r>
            <a:endParaRPr lang="en-US" sz="1200" dirty="0"/>
          </a:p>
        </p:txBody>
      </p:sp>
      <p:sp>
        <p:nvSpPr>
          <p:cNvPr id="5" name="Shape 3"/>
          <p:cNvSpPr/>
          <p:nvPr/>
        </p:nvSpPr>
        <p:spPr>
          <a:xfrm>
            <a:off x="548640" y="1965960"/>
            <a:ext cx="2331720" cy="594360"/>
          </a:xfrm>
          <a:prstGeom prst="rect">
            <a:avLst>
              <a:gd name="adj" fmla="val 12308"/>
            </a:avLst>
          </a:prstGeom>
          <a:solidFill>
            <a:srgbClr val="3D2645"/>
          </a:solidFill>
          <a:ln/>
        </p:spPr>
      </p:sp>
      <p:sp>
        <p:nvSpPr>
          <p:cNvPr id="6" name="Text 4"/>
          <p:cNvSpPr txBox="1"/>
          <p:nvPr/>
        </p:nvSpPr>
        <p:spPr>
          <a:xfrm>
            <a:off x="548640" y="1965960"/>
            <a:ext cx="233172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 Data</a:t>
            </a:r>
            <a:endParaRPr lang="en-US" sz="1250" dirty="0"/>
          </a:p>
        </p:txBody>
      </p:sp>
      <p:sp>
        <p:nvSpPr>
          <p:cNvPr id="7" name="Text 5"/>
          <p:cNvSpPr txBox="1"/>
          <p:nvPr/>
        </p:nvSpPr>
        <p:spPr>
          <a:xfrm>
            <a:off x="2880360" y="1965960"/>
            <a:ext cx="457200" cy="594360"/>
          </a:xfrm>
          <a:prstGeom prst="rect">
            <a:avLst/>
          </a:prstGeom>
          <a:noFill/>
          <a:ln/>
        </p:spPr>
        <p:txBody>
          <a:bodyPr wrap="square" lIns="0" tIns="0" rIns="0" bIns="0" rtlCol="0" anchor="ctr"/>
          <a:lstStyle/>
          <a:p>
            <a:pPr algn="ctr" indent="0" marL="0">
              <a:buNone/>
            </a:pPr>
            <a:r>
              <a:rPr lang="en-US" sz="1600" b="1" dirty="0">
                <a:solidFill>
                  <a:srgbClr val="6F6774"/>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3337560" y="1965960"/>
            <a:ext cx="2331720" cy="594360"/>
          </a:xfrm>
          <a:prstGeom prst="rect">
            <a:avLst>
              <a:gd name="adj" fmla="val 12308"/>
            </a:avLst>
          </a:prstGeom>
          <a:solidFill>
            <a:srgbClr val="3D2645"/>
          </a:solidFill>
          <a:ln/>
        </p:spPr>
      </p:sp>
      <p:sp>
        <p:nvSpPr>
          <p:cNvPr id="9" name="Text 7"/>
          <p:cNvSpPr txBox="1"/>
          <p:nvPr/>
        </p:nvSpPr>
        <p:spPr>
          <a:xfrm>
            <a:off x="3337560" y="1965960"/>
            <a:ext cx="233172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Weighted Sum</a:t>
            </a:r>
            <a:endParaRPr lang="en-US" sz="1250" dirty="0"/>
          </a:p>
        </p:txBody>
      </p:sp>
      <p:sp>
        <p:nvSpPr>
          <p:cNvPr id="10" name="Text 8"/>
          <p:cNvSpPr txBox="1"/>
          <p:nvPr/>
        </p:nvSpPr>
        <p:spPr>
          <a:xfrm>
            <a:off x="5669280" y="1965960"/>
            <a:ext cx="457200" cy="594360"/>
          </a:xfrm>
          <a:prstGeom prst="rect">
            <a:avLst/>
          </a:prstGeom>
          <a:noFill/>
          <a:ln/>
        </p:spPr>
        <p:txBody>
          <a:bodyPr wrap="square" lIns="0" tIns="0" rIns="0" bIns="0" rtlCol="0" anchor="ctr"/>
          <a:lstStyle/>
          <a:p>
            <a:pPr algn="ctr" indent="0" marL="0">
              <a:buNone/>
            </a:pPr>
            <a:r>
              <a:rPr lang="en-US" sz="1600" b="1" dirty="0">
                <a:solidFill>
                  <a:srgbClr val="6F6774"/>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6126480" y="1965960"/>
            <a:ext cx="2331720" cy="594360"/>
          </a:xfrm>
          <a:prstGeom prst="rect">
            <a:avLst>
              <a:gd name="adj" fmla="val 12308"/>
            </a:avLst>
          </a:prstGeom>
          <a:solidFill>
            <a:srgbClr val="3D2645"/>
          </a:solidFill>
          <a:ln/>
        </p:spPr>
      </p:sp>
      <p:sp>
        <p:nvSpPr>
          <p:cNvPr id="12" name="Text 10"/>
          <p:cNvSpPr txBox="1"/>
          <p:nvPr/>
        </p:nvSpPr>
        <p:spPr>
          <a:xfrm>
            <a:off x="6126480" y="1965960"/>
            <a:ext cx="233172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Activation</a:t>
            </a:r>
            <a:endParaRPr lang="en-US" sz="1250" dirty="0"/>
          </a:p>
        </p:txBody>
      </p:sp>
      <p:sp>
        <p:nvSpPr>
          <p:cNvPr id="13" name="Text 11"/>
          <p:cNvSpPr txBox="1"/>
          <p:nvPr/>
        </p:nvSpPr>
        <p:spPr>
          <a:xfrm>
            <a:off x="8458200" y="1965960"/>
            <a:ext cx="457200" cy="594360"/>
          </a:xfrm>
          <a:prstGeom prst="rect">
            <a:avLst/>
          </a:prstGeom>
          <a:noFill/>
          <a:ln/>
        </p:spPr>
        <p:txBody>
          <a:bodyPr wrap="square" lIns="0" tIns="0" rIns="0" bIns="0" rtlCol="0" anchor="ctr"/>
          <a:lstStyle/>
          <a:p>
            <a:pPr algn="ctr" indent="0" marL="0">
              <a:buNone/>
            </a:pPr>
            <a:r>
              <a:rPr lang="en-US" sz="1600" b="1" dirty="0">
                <a:solidFill>
                  <a:srgbClr val="6F6774"/>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8915400" y="1965960"/>
            <a:ext cx="2331720" cy="594360"/>
          </a:xfrm>
          <a:prstGeom prst="rect">
            <a:avLst>
              <a:gd name="adj" fmla="val 12308"/>
            </a:avLst>
          </a:prstGeom>
          <a:solidFill>
            <a:srgbClr val="3D2645"/>
          </a:solidFill>
          <a:ln/>
        </p:spPr>
      </p:sp>
      <p:sp>
        <p:nvSpPr>
          <p:cNvPr id="15" name="Text 13"/>
          <p:cNvSpPr txBox="1"/>
          <p:nvPr/>
        </p:nvSpPr>
        <p:spPr>
          <a:xfrm>
            <a:off x="8915400" y="1965960"/>
            <a:ext cx="233172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Prediction (ŷ)</a:t>
            </a:r>
            <a:endParaRPr lang="en-US" sz="1250" dirty="0"/>
          </a:p>
        </p:txBody>
      </p:sp>
      <p:sp>
        <p:nvSpPr>
          <p:cNvPr id="16" name="Text 14"/>
          <p:cNvSpPr txBox="1"/>
          <p:nvPr/>
        </p:nvSpPr>
        <p:spPr>
          <a:xfrm>
            <a:off x="548640" y="2907792"/>
            <a:ext cx="7315200" cy="274320"/>
          </a:xfrm>
          <a:prstGeom prst="rect">
            <a:avLst/>
          </a:prstGeom>
          <a:noFill/>
          <a:ln/>
        </p:spPr>
        <p:txBody>
          <a:bodyPr wrap="square" lIns="0" tIns="0" rIns="0" bIns="0" rtlCol="0" anchor="ctr"/>
          <a:lstStyle/>
          <a:p>
            <a:pPr indent="0" marL="0">
              <a:buNone/>
            </a:pPr>
            <a:r>
              <a:rPr lang="en-US" sz="1200" b="1" spc="120" kern="0" dirty="0">
                <a:solidFill>
                  <a:srgbClr val="C9932E"/>
                </a:solidFill>
                <a:latin typeface="Calibri" pitchFamily="34" charset="0"/>
                <a:ea typeface="Calibri" pitchFamily="34" charset="-122"/>
                <a:cs typeface="Calibri" pitchFamily="34" charset="-120"/>
              </a:rPr>
              <a:t>BACKPROPAGATION  •  GRADIENT DESCENT</a:t>
            </a:r>
            <a:endParaRPr lang="en-US" sz="1200" dirty="0"/>
          </a:p>
        </p:txBody>
      </p:sp>
      <p:sp>
        <p:nvSpPr>
          <p:cNvPr id="17" name="Shape 15"/>
          <p:cNvSpPr/>
          <p:nvPr/>
        </p:nvSpPr>
        <p:spPr>
          <a:xfrm>
            <a:off x="548640" y="3291840"/>
            <a:ext cx="2331720" cy="594360"/>
          </a:xfrm>
          <a:prstGeom prst="rect">
            <a:avLst>
              <a:gd name="adj" fmla="val 12308"/>
            </a:avLst>
          </a:prstGeom>
          <a:solidFill>
            <a:srgbClr val="FBF4E4"/>
          </a:solidFill>
          <a:ln/>
        </p:spPr>
      </p:sp>
      <p:sp>
        <p:nvSpPr>
          <p:cNvPr id="18" name="Text 16"/>
          <p:cNvSpPr txBox="1"/>
          <p:nvPr/>
        </p:nvSpPr>
        <p:spPr>
          <a:xfrm>
            <a:off x="548640" y="3291840"/>
            <a:ext cx="2331720" cy="594360"/>
          </a:xfrm>
          <a:prstGeom prst="rect">
            <a:avLst/>
          </a:prstGeom>
          <a:noFill/>
          <a:ln/>
        </p:spPr>
        <p:txBody>
          <a:bodyPr wrap="square" lIns="0" tIns="0" rIns="0" bIns="0" rtlCol="0" anchor="ctr"/>
          <a:lstStyle/>
          <a:p>
            <a:pPr algn="ctr" indent="0" marL="0">
              <a:buNone/>
            </a:pPr>
            <a:r>
              <a:rPr lang="en-US" sz="1250" b="1" dirty="0">
                <a:solidFill>
                  <a:srgbClr val="8A6A16"/>
                </a:solidFill>
                <a:latin typeface="Calibri" pitchFamily="34" charset="0"/>
                <a:ea typeface="Calibri" pitchFamily="34" charset="-122"/>
                <a:cs typeface="Calibri" pitchFamily="34" charset="-120"/>
              </a:rPr>
              <a:t>Compute Loss</a:t>
            </a:r>
            <a:endParaRPr lang="en-US" sz="1250" dirty="0"/>
          </a:p>
        </p:txBody>
      </p:sp>
      <p:sp>
        <p:nvSpPr>
          <p:cNvPr id="19" name="Text 17"/>
          <p:cNvSpPr txBox="1"/>
          <p:nvPr/>
        </p:nvSpPr>
        <p:spPr>
          <a:xfrm>
            <a:off x="2880360" y="3291840"/>
            <a:ext cx="457200" cy="594360"/>
          </a:xfrm>
          <a:prstGeom prst="rect">
            <a:avLst/>
          </a:prstGeom>
          <a:noFill/>
          <a:ln/>
        </p:spPr>
        <p:txBody>
          <a:bodyPr wrap="square" lIns="0" tIns="0" rIns="0" bIns="0" rtlCol="0" anchor="ctr"/>
          <a:lstStyle/>
          <a:p>
            <a:pPr algn="ctr" indent="0" marL="0">
              <a:buNone/>
            </a:pPr>
            <a:r>
              <a:rPr lang="en-US" sz="1600" b="1" dirty="0">
                <a:solidFill>
                  <a:srgbClr val="6F6774"/>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3337560" y="3291840"/>
            <a:ext cx="2331720" cy="594360"/>
          </a:xfrm>
          <a:prstGeom prst="rect">
            <a:avLst>
              <a:gd name="adj" fmla="val 12308"/>
            </a:avLst>
          </a:prstGeom>
          <a:solidFill>
            <a:srgbClr val="FBF4E4"/>
          </a:solidFill>
          <a:ln/>
        </p:spPr>
      </p:sp>
      <p:sp>
        <p:nvSpPr>
          <p:cNvPr id="21" name="Text 19"/>
          <p:cNvSpPr txBox="1"/>
          <p:nvPr/>
        </p:nvSpPr>
        <p:spPr>
          <a:xfrm>
            <a:off x="3337560" y="3291840"/>
            <a:ext cx="2331720" cy="594360"/>
          </a:xfrm>
          <a:prstGeom prst="rect">
            <a:avLst/>
          </a:prstGeom>
          <a:noFill/>
          <a:ln/>
        </p:spPr>
        <p:txBody>
          <a:bodyPr wrap="square" lIns="0" tIns="0" rIns="0" bIns="0" rtlCol="0" anchor="ctr"/>
          <a:lstStyle/>
          <a:p>
            <a:pPr algn="ctr" indent="0" marL="0">
              <a:buNone/>
            </a:pPr>
            <a:r>
              <a:rPr lang="en-US" sz="1250" b="1" dirty="0">
                <a:solidFill>
                  <a:srgbClr val="8A6A16"/>
                </a:solidFill>
                <a:latin typeface="Calibri" pitchFamily="34" charset="0"/>
                <a:ea typeface="Calibri" pitchFamily="34" charset="-122"/>
                <a:cs typeface="Calibri" pitchFamily="34" charset="-120"/>
              </a:rPr>
              <a:t>Error Gradient</a:t>
            </a:r>
            <a:endParaRPr lang="en-US" sz="1250" dirty="0"/>
          </a:p>
        </p:txBody>
      </p:sp>
      <p:sp>
        <p:nvSpPr>
          <p:cNvPr id="22" name="Text 20"/>
          <p:cNvSpPr txBox="1"/>
          <p:nvPr/>
        </p:nvSpPr>
        <p:spPr>
          <a:xfrm>
            <a:off x="5669280" y="3291840"/>
            <a:ext cx="457200" cy="594360"/>
          </a:xfrm>
          <a:prstGeom prst="rect">
            <a:avLst/>
          </a:prstGeom>
          <a:noFill/>
          <a:ln/>
        </p:spPr>
        <p:txBody>
          <a:bodyPr wrap="square" lIns="0" tIns="0" rIns="0" bIns="0" rtlCol="0" anchor="ctr"/>
          <a:lstStyle/>
          <a:p>
            <a:pPr algn="ctr" indent="0" marL="0">
              <a:buNone/>
            </a:pPr>
            <a:r>
              <a:rPr lang="en-US" sz="1600" b="1" dirty="0">
                <a:solidFill>
                  <a:srgbClr val="6F6774"/>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6126480" y="3291840"/>
            <a:ext cx="2331720" cy="594360"/>
          </a:xfrm>
          <a:prstGeom prst="rect">
            <a:avLst>
              <a:gd name="adj" fmla="val 12308"/>
            </a:avLst>
          </a:prstGeom>
          <a:solidFill>
            <a:srgbClr val="FBF4E4"/>
          </a:solidFill>
          <a:ln/>
        </p:spPr>
      </p:sp>
      <p:sp>
        <p:nvSpPr>
          <p:cNvPr id="24" name="Text 22"/>
          <p:cNvSpPr txBox="1"/>
          <p:nvPr/>
        </p:nvSpPr>
        <p:spPr>
          <a:xfrm>
            <a:off x="6126480" y="3291840"/>
            <a:ext cx="2331720" cy="594360"/>
          </a:xfrm>
          <a:prstGeom prst="rect">
            <a:avLst/>
          </a:prstGeom>
          <a:noFill/>
          <a:ln/>
        </p:spPr>
        <p:txBody>
          <a:bodyPr wrap="square" lIns="0" tIns="0" rIns="0" bIns="0" rtlCol="0" anchor="ctr"/>
          <a:lstStyle/>
          <a:p>
            <a:pPr algn="ctr" indent="0" marL="0">
              <a:buNone/>
            </a:pPr>
            <a:r>
              <a:rPr lang="en-US" sz="1250" b="1" dirty="0">
                <a:solidFill>
                  <a:srgbClr val="8A6A16"/>
                </a:solidFill>
                <a:latin typeface="Calibri" pitchFamily="34" charset="0"/>
                <a:ea typeface="Calibri" pitchFamily="34" charset="-122"/>
                <a:cs typeface="Calibri" pitchFamily="34" charset="-120"/>
              </a:rPr>
              <a:t>Update Weights</a:t>
            </a:r>
            <a:endParaRPr lang="en-US" sz="1250" dirty="0"/>
          </a:p>
        </p:txBody>
      </p:sp>
      <p:sp>
        <p:nvSpPr>
          <p:cNvPr id="25" name="Text 23"/>
          <p:cNvSpPr txBox="1"/>
          <p:nvPr/>
        </p:nvSpPr>
        <p:spPr>
          <a:xfrm>
            <a:off x="8458200" y="3291840"/>
            <a:ext cx="457200" cy="594360"/>
          </a:xfrm>
          <a:prstGeom prst="rect">
            <a:avLst/>
          </a:prstGeom>
          <a:noFill/>
          <a:ln/>
        </p:spPr>
        <p:txBody>
          <a:bodyPr wrap="square" lIns="0" tIns="0" rIns="0" bIns="0" rtlCol="0" anchor="ctr"/>
          <a:lstStyle/>
          <a:p>
            <a:pPr algn="ctr" indent="0" marL="0">
              <a:buNone/>
            </a:pPr>
            <a:r>
              <a:rPr lang="en-US" sz="1600" b="1" dirty="0">
                <a:solidFill>
                  <a:srgbClr val="6F6774"/>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8915400" y="3291840"/>
            <a:ext cx="2331720" cy="594360"/>
          </a:xfrm>
          <a:prstGeom prst="rect">
            <a:avLst>
              <a:gd name="adj" fmla="val 12308"/>
            </a:avLst>
          </a:prstGeom>
          <a:solidFill>
            <a:srgbClr val="FBF4E4"/>
          </a:solidFill>
          <a:ln/>
        </p:spPr>
      </p:sp>
      <p:sp>
        <p:nvSpPr>
          <p:cNvPr id="27" name="Text 25"/>
          <p:cNvSpPr txBox="1"/>
          <p:nvPr/>
        </p:nvSpPr>
        <p:spPr>
          <a:xfrm>
            <a:off x="8915400" y="3291840"/>
            <a:ext cx="2331720" cy="594360"/>
          </a:xfrm>
          <a:prstGeom prst="rect">
            <a:avLst/>
          </a:prstGeom>
          <a:noFill/>
          <a:ln/>
        </p:spPr>
        <p:txBody>
          <a:bodyPr wrap="square" lIns="0" tIns="0" rIns="0" bIns="0" rtlCol="0" anchor="ctr"/>
          <a:lstStyle/>
          <a:p>
            <a:pPr algn="ctr" indent="0" marL="0">
              <a:buNone/>
            </a:pPr>
            <a:r>
              <a:rPr lang="en-US" sz="1250" b="1" dirty="0">
                <a:solidFill>
                  <a:srgbClr val="8A6A16"/>
                </a:solidFill>
                <a:latin typeface="Calibri" pitchFamily="34" charset="0"/>
                <a:ea typeface="Calibri" pitchFamily="34" charset="-122"/>
                <a:cs typeface="Calibri" pitchFamily="34" charset="-120"/>
              </a:rPr>
              <a:t>Repeat (Epochs)</a:t>
            </a:r>
            <a:endParaRPr lang="en-US" sz="1250" dirty="0"/>
          </a:p>
        </p:txBody>
      </p:sp>
      <p:sp>
        <p:nvSpPr>
          <p:cNvPr id="28" name="Shape 26"/>
          <p:cNvSpPr/>
          <p:nvPr/>
        </p:nvSpPr>
        <p:spPr>
          <a:xfrm>
            <a:off x="548640" y="4434840"/>
            <a:ext cx="11064240" cy="1508760"/>
          </a:xfrm>
          <a:prstGeom prst="rect">
            <a:avLst/>
          </a:prstGeom>
          <a:solidFill>
            <a:srgbClr val="F7F4F2"/>
          </a:solidFill>
          <a:ln w="12700">
            <a:solidFill>
              <a:srgbClr val="E7E1DD"/>
            </a:solidFill>
            <a:prstDash val="solid"/>
          </a:ln>
        </p:spPr>
      </p:sp>
      <p:sp>
        <p:nvSpPr>
          <p:cNvPr id="29" name="Text 27"/>
          <p:cNvSpPr txBox="1"/>
          <p:nvPr/>
        </p:nvSpPr>
        <p:spPr>
          <a:xfrm>
            <a:off x="868680" y="4617720"/>
            <a:ext cx="10424160" cy="1188720"/>
          </a:xfrm>
          <a:prstGeom prst="rect">
            <a:avLst/>
          </a:prstGeom>
          <a:noFill/>
          <a:ln/>
        </p:spPr>
        <p:txBody>
          <a:bodyPr wrap="square" lIns="0" tIns="0" rIns="0" bIns="0" rtlCol="0" anchor="t"/>
          <a:lstStyle/>
          <a:p>
            <a:pPr indent="0" marL="0">
              <a:lnSpc>
                <a:spcPct val="130000"/>
              </a:lnSpc>
              <a:buNone/>
            </a:pPr>
            <a:r>
              <a:rPr lang="en-US" sz="1350" dirty="0">
                <a:solidFill>
                  <a:srgbClr val="262229"/>
                </a:solidFill>
                <a:latin typeface="Calibri" pitchFamily="34" charset="0"/>
                <a:ea typeface="Calibri" pitchFamily="34" charset="-122"/>
                <a:cs typeface="Calibri" pitchFamily="34" charset="-120"/>
              </a:rPr>
              <a:t>The network makes a prediction (forward pass), measures how wrong it is using a loss function, then propagates that error backward to update every weight in the direction that reduces the loss (gradient descent). Repeating this over many epochs allows the network to gradually improve its predictions.</a:t>
            </a:r>
            <a:endParaRPr lang="en-US" sz="1350" dirty="0"/>
          </a:p>
        </p:txBody>
      </p:sp>
      <p:sp>
        <p:nvSpPr>
          <p:cNvPr id="30" name="Text 28"/>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31" name="Text 29"/>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CHAPTER 4.6</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Tools &amp; Technologies Used</a:t>
            </a:r>
            <a:endParaRPr lang="en-US" sz="3000" dirty="0"/>
          </a:p>
        </p:txBody>
      </p:sp>
      <p:sp>
        <p:nvSpPr>
          <p:cNvPr id="4" name="Shape 2"/>
          <p:cNvSpPr/>
          <p:nvPr/>
        </p:nvSpPr>
        <p:spPr>
          <a:xfrm>
            <a:off x="548640" y="1691640"/>
            <a:ext cx="3611880" cy="1920240"/>
          </a:xfrm>
          <a:prstGeom prst="rect">
            <a:avLst/>
          </a:prstGeom>
          <a:solidFill>
            <a:srgbClr val="F7F4F2"/>
          </a:solidFill>
          <a:ln w="12700">
            <a:solidFill>
              <a:srgbClr val="E7E1DD"/>
            </a:solidFill>
            <a:prstDash val="solid"/>
          </a:ln>
        </p:spPr>
      </p:sp>
      <p:sp>
        <p:nvSpPr>
          <p:cNvPr id="5" name="Shape 3"/>
          <p:cNvSpPr/>
          <p:nvPr/>
        </p:nvSpPr>
        <p:spPr>
          <a:xfrm>
            <a:off x="804672" y="1947672"/>
            <a:ext cx="502920" cy="502920"/>
          </a:xfrm>
          <a:prstGeom prst="ellipse">
            <a:avLst/>
          </a:prstGeom>
          <a:solidFill>
            <a:srgbClr val="3D2645"/>
          </a:solidFill>
          <a:ln/>
        </p:spPr>
      </p:sp>
      <p:sp>
        <p:nvSpPr>
          <p:cNvPr id="6" name="Text 4"/>
          <p:cNvSpPr txBox="1"/>
          <p:nvPr/>
        </p:nvSpPr>
        <p:spPr>
          <a:xfrm>
            <a:off x="804672" y="194767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Py</a:t>
            </a:r>
            <a:endParaRPr lang="en-US" sz="1300" dirty="0"/>
          </a:p>
        </p:txBody>
      </p:sp>
      <p:sp>
        <p:nvSpPr>
          <p:cNvPr id="7" name="Text 5"/>
          <p:cNvSpPr txBox="1"/>
          <p:nvPr/>
        </p:nvSpPr>
        <p:spPr>
          <a:xfrm>
            <a:off x="1463040" y="1965960"/>
            <a:ext cx="2514600" cy="36576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Python</a:t>
            </a:r>
            <a:endParaRPr lang="en-US" sz="1500" dirty="0"/>
          </a:p>
        </p:txBody>
      </p:sp>
      <p:sp>
        <p:nvSpPr>
          <p:cNvPr id="8" name="Text 6"/>
          <p:cNvSpPr txBox="1"/>
          <p:nvPr/>
        </p:nvSpPr>
        <p:spPr>
          <a:xfrm>
            <a:off x="804672" y="2606040"/>
            <a:ext cx="3099816" cy="91440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Core programming language for implementation</a:t>
            </a:r>
            <a:endParaRPr lang="en-US" sz="1150" dirty="0"/>
          </a:p>
        </p:txBody>
      </p:sp>
      <p:sp>
        <p:nvSpPr>
          <p:cNvPr id="9" name="Shape 7"/>
          <p:cNvSpPr/>
          <p:nvPr/>
        </p:nvSpPr>
        <p:spPr>
          <a:xfrm>
            <a:off x="4343400" y="1691640"/>
            <a:ext cx="3611880" cy="1920240"/>
          </a:xfrm>
          <a:prstGeom prst="rect">
            <a:avLst/>
          </a:prstGeom>
          <a:solidFill>
            <a:srgbClr val="F7F4F2"/>
          </a:solidFill>
          <a:ln w="12700">
            <a:solidFill>
              <a:srgbClr val="E7E1DD"/>
            </a:solidFill>
            <a:prstDash val="solid"/>
          </a:ln>
        </p:spPr>
      </p:sp>
      <p:sp>
        <p:nvSpPr>
          <p:cNvPr id="10" name="Shape 8"/>
          <p:cNvSpPr/>
          <p:nvPr/>
        </p:nvSpPr>
        <p:spPr>
          <a:xfrm>
            <a:off x="4599432" y="1947672"/>
            <a:ext cx="502920" cy="502920"/>
          </a:xfrm>
          <a:prstGeom prst="ellipse">
            <a:avLst/>
          </a:prstGeom>
          <a:solidFill>
            <a:srgbClr val="C9932E"/>
          </a:solidFill>
          <a:ln/>
        </p:spPr>
      </p:sp>
      <p:sp>
        <p:nvSpPr>
          <p:cNvPr id="11" name="Text 9"/>
          <p:cNvSpPr txBox="1"/>
          <p:nvPr/>
        </p:nvSpPr>
        <p:spPr>
          <a:xfrm>
            <a:off x="4599432" y="194767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Np</a:t>
            </a:r>
            <a:endParaRPr lang="en-US" sz="1300" dirty="0"/>
          </a:p>
        </p:txBody>
      </p:sp>
      <p:sp>
        <p:nvSpPr>
          <p:cNvPr id="12" name="Text 10"/>
          <p:cNvSpPr txBox="1"/>
          <p:nvPr/>
        </p:nvSpPr>
        <p:spPr>
          <a:xfrm>
            <a:off x="5257800" y="1965960"/>
            <a:ext cx="2514600" cy="36576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NumPy</a:t>
            </a:r>
            <a:endParaRPr lang="en-US" sz="1500" dirty="0"/>
          </a:p>
        </p:txBody>
      </p:sp>
      <p:sp>
        <p:nvSpPr>
          <p:cNvPr id="13" name="Text 11"/>
          <p:cNvSpPr txBox="1"/>
          <p:nvPr/>
        </p:nvSpPr>
        <p:spPr>
          <a:xfrm>
            <a:off x="4599432" y="2606040"/>
            <a:ext cx="3099816" cy="91440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Matrix operations, weight initialization &amp; computation</a:t>
            </a:r>
            <a:endParaRPr lang="en-US" sz="1150" dirty="0"/>
          </a:p>
        </p:txBody>
      </p:sp>
      <p:sp>
        <p:nvSpPr>
          <p:cNvPr id="14" name="Shape 12"/>
          <p:cNvSpPr/>
          <p:nvPr/>
        </p:nvSpPr>
        <p:spPr>
          <a:xfrm>
            <a:off x="8138160" y="1691640"/>
            <a:ext cx="3611880" cy="1920240"/>
          </a:xfrm>
          <a:prstGeom prst="rect">
            <a:avLst/>
          </a:prstGeom>
          <a:solidFill>
            <a:srgbClr val="F7F4F2"/>
          </a:solidFill>
          <a:ln w="12700">
            <a:solidFill>
              <a:srgbClr val="E7E1DD"/>
            </a:solidFill>
            <a:prstDash val="solid"/>
          </a:ln>
        </p:spPr>
      </p:sp>
      <p:sp>
        <p:nvSpPr>
          <p:cNvPr id="15" name="Shape 13"/>
          <p:cNvSpPr/>
          <p:nvPr/>
        </p:nvSpPr>
        <p:spPr>
          <a:xfrm>
            <a:off x="8394192" y="1947672"/>
            <a:ext cx="502920" cy="502920"/>
          </a:xfrm>
          <a:prstGeom prst="ellipse">
            <a:avLst/>
          </a:prstGeom>
          <a:solidFill>
            <a:srgbClr val="3D2645"/>
          </a:solidFill>
          <a:ln/>
        </p:spPr>
      </p:sp>
      <p:sp>
        <p:nvSpPr>
          <p:cNvPr id="16" name="Text 14"/>
          <p:cNvSpPr txBox="1"/>
          <p:nvPr/>
        </p:nvSpPr>
        <p:spPr>
          <a:xfrm>
            <a:off x="8394192" y="194767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Pd</a:t>
            </a:r>
            <a:endParaRPr lang="en-US" sz="1300" dirty="0"/>
          </a:p>
        </p:txBody>
      </p:sp>
      <p:sp>
        <p:nvSpPr>
          <p:cNvPr id="17" name="Text 15"/>
          <p:cNvSpPr txBox="1"/>
          <p:nvPr/>
        </p:nvSpPr>
        <p:spPr>
          <a:xfrm>
            <a:off x="9052560" y="1965960"/>
            <a:ext cx="2514600" cy="36576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Pandas</a:t>
            </a:r>
            <a:endParaRPr lang="en-US" sz="1500" dirty="0"/>
          </a:p>
        </p:txBody>
      </p:sp>
      <p:sp>
        <p:nvSpPr>
          <p:cNvPr id="18" name="Text 16"/>
          <p:cNvSpPr txBox="1"/>
          <p:nvPr/>
        </p:nvSpPr>
        <p:spPr>
          <a:xfrm>
            <a:off x="8394192" y="2606040"/>
            <a:ext cx="3099816" cy="91440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Loading, cleaning and structuring the dataset</a:t>
            </a:r>
            <a:endParaRPr lang="en-US" sz="1150" dirty="0"/>
          </a:p>
        </p:txBody>
      </p:sp>
      <p:sp>
        <p:nvSpPr>
          <p:cNvPr id="19" name="Shape 17"/>
          <p:cNvSpPr/>
          <p:nvPr/>
        </p:nvSpPr>
        <p:spPr>
          <a:xfrm>
            <a:off x="548640" y="3886200"/>
            <a:ext cx="3611880" cy="1920240"/>
          </a:xfrm>
          <a:prstGeom prst="rect">
            <a:avLst/>
          </a:prstGeom>
          <a:solidFill>
            <a:srgbClr val="F7F4F2"/>
          </a:solidFill>
          <a:ln w="12700">
            <a:solidFill>
              <a:srgbClr val="E7E1DD"/>
            </a:solidFill>
            <a:prstDash val="solid"/>
          </a:ln>
        </p:spPr>
      </p:sp>
      <p:sp>
        <p:nvSpPr>
          <p:cNvPr id="20" name="Shape 18"/>
          <p:cNvSpPr/>
          <p:nvPr/>
        </p:nvSpPr>
        <p:spPr>
          <a:xfrm>
            <a:off x="804672" y="4142232"/>
            <a:ext cx="502920" cy="502920"/>
          </a:xfrm>
          <a:prstGeom prst="ellipse">
            <a:avLst/>
          </a:prstGeom>
          <a:solidFill>
            <a:srgbClr val="C9932E"/>
          </a:solidFill>
          <a:ln/>
        </p:spPr>
      </p:sp>
      <p:sp>
        <p:nvSpPr>
          <p:cNvPr id="21" name="Text 19"/>
          <p:cNvSpPr txBox="1"/>
          <p:nvPr/>
        </p:nvSpPr>
        <p:spPr>
          <a:xfrm>
            <a:off x="804672" y="414223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Mp</a:t>
            </a:r>
            <a:endParaRPr lang="en-US" sz="1300" dirty="0"/>
          </a:p>
        </p:txBody>
      </p:sp>
      <p:sp>
        <p:nvSpPr>
          <p:cNvPr id="22" name="Text 20"/>
          <p:cNvSpPr txBox="1"/>
          <p:nvPr/>
        </p:nvSpPr>
        <p:spPr>
          <a:xfrm>
            <a:off x="1463040" y="4160520"/>
            <a:ext cx="2514600" cy="36576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Matplotlib</a:t>
            </a:r>
            <a:endParaRPr lang="en-US" sz="1500" dirty="0"/>
          </a:p>
        </p:txBody>
      </p:sp>
      <p:sp>
        <p:nvSpPr>
          <p:cNvPr id="23" name="Text 21"/>
          <p:cNvSpPr txBox="1"/>
          <p:nvPr/>
        </p:nvSpPr>
        <p:spPr>
          <a:xfrm>
            <a:off x="804672" y="4800600"/>
            <a:ext cx="3099816" cy="91440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Visualizing training loss and accuracy curves</a:t>
            </a:r>
            <a:endParaRPr lang="en-US" sz="1150" dirty="0"/>
          </a:p>
        </p:txBody>
      </p:sp>
      <p:sp>
        <p:nvSpPr>
          <p:cNvPr id="24" name="Shape 22"/>
          <p:cNvSpPr/>
          <p:nvPr/>
        </p:nvSpPr>
        <p:spPr>
          <a:xfrm>
            <a:off x="4343400" y="3886200"/>
            <a:ext cx="3611880" cy="1920240"/>
          </a:xfrm>
          <a:prstGeom prst="rect">
            <a:avLst/>
          </a:prstGeom>
          <a:solidFill>
            <a:srgbClr val="F7F4F2"/>
          </a:solidFill>
          <a:ln w="12700">
            <a:solidFill>
              <a:srgbClr val="E7E1DD"/>
            </a:solidFill>
            <a:prstDash val="solid"/>
          </a:ln>
        </p:spPr>
      </p:sp>
      <p:sp>
        <p:nvSpPr>
          <p:cNvPr id="25" name="Shape 23"/>
          <p:cNvSpPr/>
          <p:nvPr/>
        </p:nvSpPr>
        <p:spPr>
          <a:xfrm>
            <a:off x="4599432" y="4142232"/>
            <a:ext cx="502920" cy="502920"/>
          </a:xfrm>
          <a:prstGeom prst="ellipse">
            <a:avLst/>
          </a:prstGeom>
          <a:solidFill>
            <a:srgbClr val="3D2645"/>
          </a:solidFill>
          <a:ln/>
        </p:spPr>
      </p:sp>
      <p:sp>
        <p:nvSpPr>
          <p:cNvPr id="26" name="Text 24"/>
          <p:cNvSpPr txBox="1"/>
          <p:nvPr/>
        </p:nvSpPr>
        <p:spPr>
          <a:xfrm>
            <a:off x="4599432" y="414223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Jn</a:t>
            </a:r>
            <a:endParaRPr lang="en-US" sz="1300" dirty="0"/>
          </a:p>
        </p:txBody>
      </p:sp>
      <p:sp>
        <p:nvSpPr>
          <p:cNvPr id="27" name="Text 25"/>
          <p:cNvSpPr txBox="1"/>
          <p:nvPr/>
        </p:nvSpPr>
        <p:spPr>
          <a:xfrm>
            <a:off x="5257800" y="4160520"/>
            <a:ext cx="2514600" cy="36576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Jupyter Notebook</a:t>
            </a:r>
            <a:endParaRPr lang="en-US" sz="1500" dirty="0"/>
          </a:p>
        </p:txBody>
      </p:sp>
      <p:sp>
        <p:nvSpPr>
          <p:cNvPr id="28" name="Text 26"/>
          <p:cNvSpPr txBox="1"/>
          <p:nvPr/>
        </p:nvSpPr>
        <p:spPr>
          <a:xfrm>
            <a:off x="4599432" y="4800600"/>
            <a:ext cx="3099816" cy="91440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Interactive development and experimentation</a:t>
            </a:r>
            <a:endParaRPr lang="en-US" sz="1150" dirty="0"/>
          </a:p>
        </p:txBody>
      </p:sp>
      <p:sp>
        <p:nvSpPr>
          <p:cNvPr id="29" name="Shape 27"/>
          <p:cNvSpPr/>
          <p:nvPr/>
        </p:nvSpPr>
        <p:spPr>
          <a:xfrm>
            <a:off x="8138160" y="3886200"/>
            <a:ext cx="3611880" cy="1920240"/>
          </a:xfrm>
          <a:prstGeom prst="rect">
            <a:avLst/>
          </a:prstGeom>
          <a:solidFill>
            <a:srgbClr val="F7F4F2"/>
          </a:solidFill>
          <a:ln w="12700">
            <a:solidFill>
              <a:srgbClr val="E7E1DD"/>
            </a:solidFill>
            <a:prstDash val="solid"/>
          </a:ln>
        </p:spPr>
      </p:sp>
      <p:sp>
        <p:nvSpPr>
          <p:cNvPr id="30" name="Shape 28"/>
          <p:cNvSpPr/>
          <p:nvPr/>
        </p:nvSpPr>
        <p:spPr>
          <a:xfrm>
            <a:off x="8394192" y="4142232"/>
            <a:ext cx="502920" cy="502920"/>
          </a:xfrm>
          <a:prstGeom prst="ellipse">
            <a:avLst/>
          </a:prstGeom>
          <a:solidFill>
            <a:srgbClr val="C9932E"/>
          </a:solidFill>
          <a:ln/>
        </p:spPr>
      </p:sp>
      <p:sp>
        <p:nvSpPr>
          <p:cNvPr id="31" name="Text 29"/>
          <p:cNvSpPr txBox="1"/>
          <p:nvPr/>
        </p:nvSpPr>
        <p:spPr>
          <a:xfrm>
            <a:off x="8394192" y="414223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Vs</a:t>
            </a:r>
            <a:endParaRPr lang="en-US" sz="1300" dirty="0"/>
          </a:p>
        </p:txBody>
      </p:sp>
      <p:sp>
        <p:nvSpPr>
          <p:cNvPr id="32" name="Text 30"/>
          <p:cNvSpPr txBox="1"/>
          <p:nvPr/>
        </p:nvSpPr>
        <p:spPr>
          <a:xfrm>
            <a:off x="9052560" y="4160520"/>
            <a:ext cx="2514600" cy="36576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VS Code</a:t>
            </a:r>
            <a:endParaRPr lang="en-US" sz="1500" dirty="0"/>
          </a:p>
        </p:txBody>
      </p:sp>
      <p:sp>
        <p:nvSpPr>
          <p:cNvPr id="33" name="Text 31"/>
          <p:cNvSpPr txBox="1"/>
          <p:nvPr/>
        </p:nvSpPr>
        <p:spPr>
          <a:xfrm>
            <a:off x="8394192" y="4800600"/>
            <a:ext cx="3099816" cy="91440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Script writing, debugging and version control</a:t>
            </a:r>
            <a:endParaRPr lang="en-US" sz="1150" dirty="0"/>
          </a:p>
        </p:txBody>
      </p:sp>
      <p:sp>
        <p:nvSpPr>
          <p:cNvPr id="34" name="Text 32"/>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35" name="Text 33"/>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CHAPTER 4.8</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Methodology / Work Flow</a:t>
            </a:r>
            <a:endParaRPr lang="en-US" sz="3000" dirty="0"/>
          </a:p>
        </p:txBody>
      </p:sp>
      <p:sp>
        <p:nvSpPr>
          <p:cNvPr id="4" name="Shape 2"/>
          <p:cNvSpPr/>
          <p:nvPr/>
        </p:nvSpPr>
        <p:spPr>
          <a:xfrm>
            <a:off x="1591056" y="1911096"/>
            <a:ext cx="914" cy="3584448"/>
          </a:xfrm>
          <a:prstGeom prst="line">
            <a:avLst/>
          </a:prstGeom>
          <a:noFill/>
          <a:ln w="25400">
            <a:solidFill>
              <a:srgbClr val="E7E1DD"/>
            </a:solidFill>
            <a:prstDash val="solid"/>
          </a:ln>
        </p:spPr>
      </p:sp>
      <p:sp>
        <p:nvSpPr>
          <p:cNvPr id="5" name="Shape 3"/>
          <p:cNvSpPr/>
          <p:nvPr/>
        </p:nvSpPr>
        <p:spPr>
          <a:xfrm>
            <a:off x="1371600" y="1691640"/>
            <a:ext cx="438912" cy="438912"/>
          </a:xfrm>
          <a:prstGeom prst="ellipse">
            <a:avLst/>
          </a:prstGeom>
          <a:solidFill>
            <a:srgbClr val="3D2645"/>
          </a:solidFill>
          <a:ln/>
        </p:spPr>
      </p:sp>
      <p:sp>
        <p:nvSpPr>
          <p:cNvPr id="6" name="Text 4"/>
          <p:cNvSpPr txBox="1"/>
          <p:nvPr/>
        </p:nvSpPr>
        <p:spPr>
          <a:xfrm>
            <a:off x="1371600" y="169164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2057400" y="1636776"/>
            <a:ext cx="9418320" cy="731520"/>
          </a:xfrm>
          <a:prstGeom prst="rect">
            <a:avLst/>
          </a:prstGeom>
          <a:solidFill>
            <a:srgbClr val="F7F4F2"/>
          </a:solidFill>
          <a:ln w="12700">
            <a:solidFill>
              <a:srgbClr val="E7E1DD"/>
            </a:solidFill>
            <a:prstDash val="solid"/>
          </a:ln>
        </p:spPr>
      </p:sp>
      <p:sp>
        <p:nvSpPr>
          <p:cNvPr id="8" name="Text 6"/>
          <p:cNvSpPr txBox="1"/>
          <p:nvPr/>
        </p:nvSpPr>
        <p:spPr>
          <a:xfrm>
            <a:off x="2286000" y="1636776"/>
            <a:ext cx="2377440" cy="731520"/>
          </a:xfrm>
          <a:prstGeom prst="rect">
            <a:avLst/>
          </a:prstGeom>
          <a:noFill/>
          <a:ln/>
        </p:spPr>
        <p:txBody>
          <a:bodyPr wrap="square" lIns="0" tIns="0" rIns="0" bIns="0" rtlCol="0" anchor="ctr"/>
          <a:lstStyle/>
          <a:p>
            <a:pPr indent="0" marL="0">
              <a:buNone/>
            </a:pPr>
            <a:r>
              <a:rPr lang="en-US" sz="1450" b="1" dirty="0">
                <a:solidFill>
                  <a:srgbClr val="3D2645"/>
                </a:solidFill>
                <a:latin typeface="Cambria" pitchFamily="34" charset="0"/>
                <a:ea typeface="Cambria" pitchFamily="34" charset="-122"/>
                <a:cs typeface="Cambria" pitchFamily="34" charset="-120"/>
              </a:rPr>
              <a:t>Data Collection</a:t>
            </a:r>
            <a:endParaRPr lang="en-US" sz="1450" dirty="0"/>
          </a:p>
        </p:txBody>
      </p:sp>
      <p:sp>
        <p:nvSpPr>
          <p:cNvPr id="9" name="Text 7"/>
          <p:cNvSpPr txBox="1"/>
          <p:nvPr/>
        </p:nvSpPr>
        <p:spPr>
          <a:xfrm>
            <a:off x="4754880" y="1636776"/>
            <a:ext cx="6583680" cy="731520"/>
          </a:xfrm>
          <a:prstGeom prst="rect">
            <a:avLst/>
          </a:prstGeom>
          <a:noFill/>
          <a:ln/>
        </p:spPr>
        <p:txBody>
          <a:bodyPr wrap="square" lIns="0" tIns="0" rIns="0" bIns="0" rtlCol="0" anchor="ctr"/>
          <a:lstStyle/>
          <a:p>
            <a:pPr indent="0" marL="0">
              <a:lnSpc>
                <a:spcPct val="115000"/>
              </a:lnSpc>
              <a:buNone/>
            </a:pPr>
            <a:r>
              <a:rPr lang="en-US" sz="1150" dirty="0">
                <a:solidFill>
                  <a:srgbClr val="6F6774"/>
                </a:solidFill>
                <a:latin typeface="Calibri" pitchFamily="34" charset="0"/>
                <a:ea typeface="Calibri" pitchFamily="34" charset="-122"/>
                <a:cs typeface="Calibri" pitchFamily="34" charset="-120"/>
              </a:rPr>
              <a:t>Gathered a labelled dataset suited for a classification task</a:t>
            </a:r>
            <a:endParaRPr lang="en-US" sz="1150" dirty="0"/>
          </a:p>
        </p:txBody>
      </p:sp>
      <p:sp>
        <p:nvSpPr>
          <p:cNvPr id="10" name="Shape 8"/>
          <p:cNvSpPr/>
          <p:nvPr/>
        </p:nvSpPr>
        <p:spPr>
          <a:xfrm>
            <a:off x="1371600" y="2587752"/>
            <a:ext cx="438912" cy="438912"/>
          </a:xfrm>
          <a:prstGeom prst="ellipse">
            <a:avLst/>
          </a:prstGeom>
          <a:solidFill>
            <a:srgbClr val="C9932E"/>
          </a:solidFill>
          <a:ln/>
        </p:spPr>
      </p:sp>
      <p:sp>
        <p:nvSpPr>
          <p:cNvPr id="11" name="Text 9"/>
          <p:cNvSpPr txBox="1"/>
          <p:nvPr/>
        </p:nvSpPr>
        <p:spPr>
          <a:xfrm>
            <a:off x="1371600" y="258775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Shape 10"/>
          <p:cNvSpPr/>
          <p:nvPr/>
        </p:nvSpPr>
        <p:spPr>
          <a:xfrm>
            <a:off x="2057400" y="2532888"/>
            <a:ext cx="9418320" cy="731520"/>
          </a:xfrm>
          <a:prstGeom prst="rect">
            <a:avLst/>
          </a:prstGeom>
          <a:solidFill>
            <a:srgbClr val="F7F4F2"/>
          </a:solidFill>
          <a:ln w="12700">
            <a:solidFill>
              <a:srgbClr val="E7E1DD"/>
            </a:solidFill>
            <a:prstDash val="solid"/>
          </a:ln>
        </p:spPr>
      </p:sp>
      <p:sp>
        <p:nvSpPr>
          <p:cNvPr id="13" name="Text 11"/>
          <p:cNvSpPr txBox="1"/>
          <p:nvPr/>
        </p:nvSpPr>
        <p:spPr>
          <a:xfrm>
            <a:off x="2286000" y="2532888"/>
            <a:ext cx="2377440" cy="731520"/>
          </a:xfrm>
          <a:prstGeom prst="rect">
            <a:avLst/>
          </a:prstGeom>
          <a:noFill/>
          <a:ln/>
        </p:spPr>
        <p:txBody>
          <a:bodyPr wrap="square" lIns="0" tIns="0" rIns="0" bIns="0" rtlCol="0" anchor="ctr"/>
          <a:lstStyle/>
          <a:p>
            <a:pPr indent="0" marL="0">
              <a:buNone/>
            </a:pPr>
            <a:r>
              <a:rPr lang="en-US" sz="1450" b="1" dirty="0">
                <a:solidFill>
                  <a:srgbClr val="3D2645"/>
                </a:solidFill>
                <a:latin typeface="Cambria" pitchFamily="34" charset="0"/>
                <a:ea typeface="Cambria" pitchFamily="34" charset="-122"/>
                <a:cs typeface="Cambria" pitchFamily="34" charset="-120"/>
              </a:rPr>
              <a:t>Preprocessing</a:t>
            </a:r>
            <a:endParaRPr lang="en-US" sz="1450" dirty="0"/>
          </a:p>
        </p:txBody>
      </p:sp>
      <p:sp>
        <p:nvSpPr>
          <p:cNvPr id="14" name="Text 12"/>
          <p:cNvSpPr txBox="1"/>
          <p:nvPr/>
        </p:nvSpPr>
        <p:spPr>
          <a:xfrm>
            <a:off x="4754880" y="2532888"/>
            <a:ext cx="6583680" cy="731520"/>
          </a:xfrm>
          <a:prstGeom prst="rect">
            <a:avLst/>
          </a:prstGeom>
          <a:noFill/>
          <a:ln/>
        </p:spPr>
        <p:txBody>
          <a:bodyPr wrap="square" lIns="0" tIns="0" rIns="0" bIns="0" rtlCol="0" anchor="ctr"/>
          <a:lstStyle/>
          <a:p>
            <a:pPr indent="0" marL="0">
              <a:lnSpc>
                <a:spcPct val="115000"/>
              </a:lnSpc>
              <a:buNone/>
            </a:pPr>
            <a:r>
              <a:rPr lang="en-US" sz="1150" dirty="0">
                <a:solidFill>
                  <a:srgbClr val="6F6774"/>
                </a:solidFill>
                <a:latin typeface="Calibri" pitchFamily="34" charset="0"/>
                <a:ea typeface="Calibri" pitchFamily="34" charset="-122"/>
                <a:cs typeface="Calibri" pitchFamily="34" charset="-120"/>
              </a:rPr>
              <a:t>Cleaned data, handled missing values, normalized features with Pandas/NumPy</a:t>
            </a:r>
            <a:endParaRPr lang="en-US" sz="1150" dirty="0"/>
          </a:p>
        </p:txBody>
      </p:sp>
      <p:sp>
        <p:nvSpPr>
          <p:cNvPr id="15" name="Shape 13"/>
          <p:cNvSpPr/>
          <p:nvPr/>
        </p:nvSpPr>
        <p:spPr>
          <a:xfrm>
            <a:off x="1371600" y="3483864"/>
            <a:ext cx="438912" cy="438912"/>
          </a:xfrm>
          <a:prstGeom prst="ellipse">
            <a:avLst/>
          </a:prstGeom>
          <a:solidFill>
            <a:srgbClr val="3D2645"/>
          </a:solidFill>
          <a:ln/>
        </p:spPr>
      </p:sp>
      <p:sp>
        <p:nvSpPr>
          <p:cNvPr id="16" name="Text 14"/>
          <p:cNvSpPr txBox="1"/>
          <p:nvPr/>
        </p:nvSpPr>
        <p:spPr>
          <a:xfrm>
            <a:off x="1371600" y="348386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Shape 15"/>
          <p:cNvSpPr/>
          <p:nvPr/>
        </p:nvSpPr>
        <p:spPr>
          <a:xfrm>
            <a:off x="2057400" y="3429000"/>
            <a:ext cx="9418320" cy="731520"/>
          </a:xfrm>
          <a:prstGeom prst="rect">
            <a:avLst/>
          </a:prstGeom>
          <a:solidFill>
            <a:srgbClr val="F7F4F2"/>
          </a:solidFill>
          <a:ln w="12700">
            <a:solidFill>
              <a:srgbClr val="E7E1DD"/>
            </a:solidFill>
            <a:prstDash val="solid"/>
          </a:ln>
        </p:spPr>
      </p:sp>
      <p:sp>
        <p:nvSpPr>
          <p:cNvPr id="18" name="Text 16"/>
          <p:cNvSpPr txBox="1"/>
          <p:nvPr/>
        </p:nvSpPr>
        <p:spPr>
          <a:xfrm>
            <a:off x="2286000" y="3429000"/>
            <a:ext cx="2377440" cy="731520"/>
          </a:xfrm>
          <a:prstGeom prst="rect">
            <a:avLst/>
          </a:prstGeom>
          <a:noFill/>
          <a:ln/>
        </p:spPr>
        <p:txBody>
          <a:bodyPr wrap="square" lIns="0" tIns="0" rIns="0" bIns="0" rtlCol="0" anchor="ctr"/>
          <a:lstStyle/>
          <a:p>
            <a:pPr indent="0" marL="0">
              <a:buNone/>
            </a:pPr>
            <a:r>
              <a:rPr lang="en-US" sz="1450" b="1" dirty="0">
                <a:solidFill>
                  <a:srgbClr val="3D2645"/>
                </a:solidFill>
                <a:latin typeface="Cambria" pitchFamily="34" charset="0"/>
                <a:ea typeface="Cambria" pitchFamily="34" charset="-122"/>
                <a:cs typeface="Cambria" pitchFamily="34" charset="-120"/>
              </a:rPr>
              <a:t>Model Design</a:t>
            </a:r>
            <a:endParaRPr lang="en-US" sz="1450" dirty="0"/>
          </a:p>
        </p:txBody>
      </p:sp>
      <p:sp>
        <p:nvSpPr>
          <p:cNvPr id="19" name="Text 17"/>
          <p:cNvSpPr txBox="1"/>
          <p:nvPr/>
        </p:nvSpPr>
        <p:spPr>
          <a:xfrm>
            <a:off x="4754880" y="3429000"/>
            <a:ext cx="6583680" cy="731520"/>
          </a:xfrm>
          <a:prstGeom prst="rect">
            <a:avLst/>
          </a:prstGeom>
          <a:noFill/>
          <a:ln/>
        </p:spPr>
        <p:txBody>
          <a:bodyPr wrap="square" lIns="0" tIns="0" rIns="0" bIns="0" rtlCol="0" anchor="ctr"/>
          <a:lstStyle/>
          <a:p>
            <a:pPr indent="0" marL="0">
              <a:lnSpc>
                <a:spcPct val="115000"/>
              </a:lnSpc>
              <a:buNone/>
            </a:pPr>
            <a:r>
              <a:rPr lang="en-US" sz="1150" dirty="0">
                <a:solidFill>
                  <a:srgbClr val="6F6774"/>
                </a:solidFill>
                <a:latin typeface="Calibri" pitchFamily="34" charset="0"/>
                <a:ea typeface="Calibri" pitchFamily="34" charset="-122"/>
                <a:cs typeface="Calibri" pitchFamily="34" charset="-120"/>
              </a:rPr>
              <a:t>Defined a feed-forward ANN — input, hidden and output layers with chosen activation functions</a:t>
            </a:r>
            <a:endParaRPr lang="en-US" sz="1150" dirty="0"/>
          </a:p>
        </p:txBody>
      </p:sp>
      <p:sp>
        <p:nvSpPr>
          <p:cNvPr id="20" name="Shape 18"/>
          <p:cNvSpPr/>
          <p:nvPr/>
        </p:nvSpPr>
        <p:spPr>
          <a:xfrm>
            <a:off x="1371600" y="4379976"/>
            <a:ext cx="438912" cy="438912"/>
          </a:xfrm>
          <a:prstGeom prst="ellipse">
            <a:avLst/>
          </a:prstGeom>
          <a:solidFill>
            <a:srgbClr val="C9932E"/>
          </a:solidFill>
          <a:ln/>
        </p:spPr>
      </p:sp>
      <p:sp>
        <p:nvSpPr>
          <p:cNvPr id="21" name="Text 19"/>
          <p:cNvSpPr txBox="1"/>
          <p:nvPr/>
        </p:nvSpPr>
        <p:spPr>
          <a:xfrm>
            <a:off x="1371600" y="437997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Shape 20"/>
          <p:cNvSpPr/>
          <p:nvPr/>
        </p:nvSpPr>
        <p:spPr>
          <a:xfrm>
            <a:off x="2057400" y="4325112"/>
            <a:ext cx="9418320" cy="731520"/>
          </a:xfrm>
          <a:prstGeom prst="rect">
            <a:avLst/>
          </a:prstGeom>
          <a:solidFill>
            <a:srgbClr val="F7F4F2"/>
          </a:solidFill>
          <a:ln w="12700">
            <a:solidFill>
              <a:srgbClr val="E7E1DD"/>
            </a:solidFill>
            <a:prstDash val="solid"/>
          </a:ln>
        </p:spPr>
      </p:sp>
      <p:sp>
        <p:nvSpPr>
          <p:cNvPr id="23" name="Text 21"/>
          <p:cNvSpPr txBox="1"/>
          <p:nvPr/>
        </p:nvSpPr>
        <p:spPr>
          <a:xfrm>
            <a:off x="2286000" y="4325112"/>
            <a:ext cx="2377440" cy="731520"/>
          </a:xfrm>
          <a:prstGeom prst="rect">
            <a:avLst/>
          </a:prstGeom>
          <a:noFill/>
          <a:ln/>
        </p:spPr>
        <p:txBody>
          <a:bodyPr wrap="square" lIns="0" tIns="0" rIns="0" bIns="0" rtlCol="0" anchor="ctr"/>
          <a:lstStyle/>
          <a:p>
            <a:pPr indent="0" marL="0">
              <a:buNone/>
            </a:pPr>
            <a:r>
              <a:rPr lang="en-US" sz="1450" b="1" dirty="0">
                <a:solidFill>
                  <a:srgbClr val="3D2645"/>
                </a:solidFill>
                <a:latin typeface="Cambria" pitchFamily="34" charset="0"/>
                <a:ea typeface="Cambria" pitchFamily="34" charset="-122"/>
                <a:cs typeface="Cambria" pitchFamily="34" charset="-120"/>
              </a:rPr>
              <a:t>Training</a:t>
            </a:r>
            <a:endParaRPr lang="en-US" sz="1450" dirty="0"/>
          </a:p>
        </p:txBody>
      </p:sp>
      <p:sp>
        <p:nvSpPr>
          <p:cNvPr id="24" name="Text 22"/>
          <p:cNvSpPr txBox="1"/>
          <p:nvPr/>
        </p:nvSpPr>
        <p:spPr>
          <a:xfrm>
            <a:off x="4754880" y="4325112"/>
            <a:ext cx="6583680" cy="731520"/>
          </a:xfrm>
          <a:prstGeom prst="rect">
            <a:avLst/>
          </a:prstGeom>
          <a:noFill/>
          <a:ln/>
        </p:spPr>
        <p:txBody>
          <a:bodyPr wrap="square" lIns="0" tIns="0" rIns="0" bIns="0" rtlCol="0" anchor="ctr"/>
          <a:lstStyle/>
          <a:p>
            <a:pPr indent="0" marL="0">
              <a:lnSpc>
                <a:spcPct val="115000"/>
              </a:lnSpc>
              <a:buNone/>
            </a:pPr>
            <a:r>
              <a:rPr lang="en-US" sz="1150" dirty="0">
                <a:solidFill>
                  <a:srgbClr val="6F6774"/>
                </a:solidFill>
                <a:latin typeface="Calibri" pitchFamily="34" charset="0"/>
                <a:ea typeface="Calibri" pitchFamily="34" charset="-122"/>
                <a:cs typeface="Calibri" pitchFamily="34" charset="-120"/>
              </a:rPr>
              <a:t>Ran forward + backward propagation over multiple epochs to minimize loss</a:t>
            </a:r>
            <a:endParaRPr lang="en-US" sz="1150" dirty="0"/>
          </a:p>
        </p:txBody>
      </p:sp>
      <p:sp>
        <p:nvSpPr>
          <p:cNvPr id="25" name="Shape 23"/>
          <p:cNvSpPr/>
          <p:nvPr/>
        </p:nvSpPr>
        <p:spPr>
          <a:xfrm>
            <a:off x="1371600" y="5276088"/>
            <a:ext cx="438912" cy="438912"/>
          </a:xfrm>
          <a:prstGeom prst="ellipse">
            <a:avLst/>
          </a:prstGeom>
          <a:solidFill>
            <a:srgbClr val="3D2645"/>
          </a:solidFill>
          <a:ln/>
        </p:spPr>
      </p:sp>
      <p:sp>
        <p:nvSpPr>
          <p:cNvPr id="26" name="Text 24"/>
          <p:cNvSpPr txBox="1"/>
          <p:nvPr/>
        </p:nvSpPr>
        <p:spPr>
          <a:xfrm>
            <a:off x="1371600" y="52760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Shape 25"/>
          <p:cNvSpPr/>
          <p:nvPr/>
        </p:nvSpPr>
        <p:spPr>
          <a:xfrm>
            <a:off x="2057400" y="5221224"/>
            <a:ext cx="9418320" cy="731520"/>
          </a:xfrm>
          <a:prstGeom prst="rect">
            <a:avLst/>
          </a:prstGeom>
          <a:solidFill>
            <a:srgbClr val="F7F4F2"/>
          </a:solidFill>
          <a:ln w="12700">
            <a:solidFill>
              <a:srgbClr val="E7E1DD"/>
            </a:solidFill>
            <a:prstDash val="solid"/>
          </a:ln>
        </p:spPr>
      </p:sp>
      <p:sp>
        <p:nvSpPr>
          <p:cNvPr id="28" name="Text 26"/>
          <p:cNvSpPr txBox="1"/>
          <p:nvPr/>
        </p:nvSpPr>
        <p:spPr>
          <a:xfrm>
            <a:off x="2286000" y="5221224"/>
            <a:ext cx="2377440" cy="731520"/>
          </a:xfrm>
          <a:prstGeom prst="rect">
            <a:avLst/>
          </a:prstGeom>
          <a:noFill/>
          <a:ln/>
        </p:spPr>
        <p:txBody>
          <a:bodyPr wrap="square" lIns="0" tIns="0" rIns="0" bIns="0" rtlCol="0" anchor="ctr"/>
          <a:lstStyle/>
          <a:p>
            <a:pPr indent="0" marL="0">
              <a:buNone/>
            </a:pPr>
            <a:r>
              <a:rPr lang="en-US" sz="1450" b="1" dirty="0">
                <a:solidFill>
                  <a:srgbClr val="3D2645"/>
                </a:solidFill>
                <a:latin typeface="Cambria" pitchFamily="34" charset="0"/>
                <a:ea typeface="Cambria" pitchFamily="34" charset="-122"/>
                <a:cs typeface="Cambria" pitchFamily="34" charset="-120"/>
              </a:rPr>
              <a:t>Evaluation</a:t>
            </a:r>
            <a:endParaRPr lang="en-US" sz="1450" dirty="0"/>
          </a:p>
        </p:txBody>
      </p:sp>
      <p:sp>
        <p:nvSpPr>
          <p:cNvPr id="29" name="Text 27"/>
          <p:cNvSpPr txBox="1"/>
          <p:nvPr/>
        </p:nvSpPr>
        <p:spPr>
          <a:xfrm>
            <a:off x="4754880" y="5221224"/>
            <a:ext cx="6583680" cy="731520"/>
          </a:xfrm>
          <a:prstGeom prst="rect">
            <a:avLst/>
          </a:prstGeom>
          <a:noFill/>
          <a:ln/>
        </p:spPr>
        <p:txBody>
          <a:bodyPr wrap="square" lIns="0" tIns="0" rIns="0" bIns="0" rtlCol="0" anchor="ctr"/>
          <a:lstStyle/>
          <a:p>
            <a:pPr indent="0" marL="0">
              <a:lnSpc>
                <a:spcPct val="115000"/>
              </a:lnSpc>
              <a:buNone/>
            </a:pPr>
            <a:r>
              <a:rPr lang="en-US" sz="1150" dirty="0">
                <a:solidFill>
                  <a:srgbClr val="6F6774"/>
                </a:solidFill>
                <a:latin typeface="Calibri" pitchFamily="34" charset="0"/>
                <a:ea typeface="Calibri" pitchFamily="34" charset="-122"/>
                <a:cs typeface="Calibri" pitchFamily="34" charset="-120"/>
              </a:rPr>
              <a:t>Measured accuracy / loss and visualized training curves with Matplotlib</a:t>
            </a:r>
            <a:endParaRPr lang="en-US" sz="1150" dirty="0"/>
          </a:p>
        </p:txBody>
      </p:sp>
      <p:sp>
        <p:nvSpPr>
          <p:cNvPr id="30" name="Text 28"/>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31" name="Text 29"/>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REAL-WORLD IMPACT</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Applications of Artificial Neural Networks</a:t>
            </a:r>
            <a:endParaRPr lang="en-US" sz="3000" dirty="0"/>
          </a:p>
        </p:txBody>
      </p:sp>
      <p:sp>
        <p:nvSpPr>
          <p:cNvPr id="4" name="Shape 2"/>
          <p:cNvSpPr/>
          <p:nvPr/>
        </p:nvSpPr>
        <p:spPr>
          <a:xfrm>
            <a:off x="548640" y="1691640"/>
            <a:ext cx="3611880" cy="1920240"/>
          </a:xfrm>
          <a:prstGeom prst="rect">
            <a:avLst/>
          </a:prstGeom>
          <a:solidFill>
            <a:srgbClr val="F7F4F2"/>
          </a:solidFill>
          <a:ln w="12700">
            <a:solidFill>
              <a:srgbClr val="E7E1DD"/>
            </a:solidFill>
            <a:prstDash val="solid"/>
          </a:ln>
        </p:spPr>
      </p:sp>
      <p:sp>
        <p:nvSpPr>
          <p:cNvPr id="5" name="Shape 3"/>
          <p:cNvSpPr/>
          <p:nvPr/>
        </p:nvSpPr>
        <p:spPr>
          <a:xfrm>
            <a:off x="804672" y="1947672"/>
            <a:ext cx="402336" cy="402336"/>
          </a:xfrm>
          <a:prstGeom prst="ellipse">
            <a:avLst/>
          </a:prstGeom>
          <a:solidFill>
            <a:srgbClr val="3D2645"/>
          </a:solidFill>
          <a:ln/>
        </p:spPr>
      </p:sp>
      <p:sp>
        <p:nvSpPr>
          <p:cNvPr id="6" name="Text 4"/>
          <p:cNvSpPr txBox="1"/>
          <p:nvPr/>
        </p:nvSpPr>
        <p:spPr>
          <a:xfrm>
            <a:off x="804672" y="19476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04672" y="2514600"/>
            <a:ext cx="3099816" cy="502920"/>
          </a:xfrm>
          <a:prstGeom prst="rect">
            <a:avLst/>
          </a:prstGeom>
          <a:noFill/>
          <a:ln/>
        </p:spPr>
        <p:txBody>
          <a:bodyPr wrap="square" lIns="0" tIns="0" rIns="0" bIns="0" rtlCol="0" anchor="t"/>
          <a:lstStyle/>
          <a:p>
            <a:pPr indent="0" marL="0">
              <a:buNone/>
            </a:pPr>
            <a:r>
              <a:rPr lang="en-US" sz="1350" b="1" dirty="0">
                <a:solidFill>
                  <a:srgbClr val="3D2645"/>
                </a:solidFill>
                <a:latin typeface="Cambria" pitchFamily="34" charset="0"/>
                <a:ea typeface="Cambria" pitchFamily="34" charset="-122"/>
                <a:cs typeface="Cambria" pitchFamily="34" charset="-120"/>
              </a:rPr>
              <a:t>Image &amp; Pattern Recognition</a:t>
            </a:r>
            <a:endParaRPr lang="en-US" sz="1350" dirty="0"/>
          </a:p>
        </p:txBody>
      </p:sp>
      <p:sp>
        <p:nvSpPr>
          <p:cNvPr id="8" name="Text 6"/>
          <p:cNvSpPr txBox="1"/>
          <p:nvPr/>
        </p:nvSpPr>
        <p:spPr>
          <a:xfrm>
            <a:off x="804672" y="3017520"/>
            <a:ext cx="3099816" cy="54864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Facial emotion detection, object and handwriting recognition</a:t>
            </a:r>
            <a:endParaRPr lang="en-US" sz="1050" dirty="0"/>
          </a:p>
        </p:txBody>
      </p:sp>
      <p:sp>
        <p:nvSpPr>
          <p:cNvPr id="9" name="Shape 7"/>
          <p:cNvSpPr/>
          <p:nvPr/>
        </p:nvSpPr>
        <p:spPr>
          <a:xfrm>
            <a:off x="4343400" y="1691640"/>
            <a:ext cx="3611880" cy="1920240"/>
          </a:xfrm>
          <a:prstGeom prst="rect">
            <a:avLst/>
          </a:prstGeom>
          <a:solidFill>
            <a:srgbClr val="F7F4F2"/>
          </a:solidFill>
          <a:ln w="12700">
            <a:solidFill>
              <a:srgbClr val="E7E1DD"/>
            </a:solidFill>
            <a:prstDash val="solid"/>
          </a:ln>
        </p:spPr>
      </p:sp>
      <p:sp>
        <p:nvSpPr>
          <p:cNvPr id="10" name="Shape 8"/>
          <p:cNvSpPr/>
          <p:nvPr/>
        </p:nvSpPr>
        <p:spPr>
          <a:xfrm>
            <a:off x="4599432" y="1947672"/>
            <a:ext cx="402336" cy="402336"/>
          </a:xfrm>
          <a:prstGeom prst="ellipse">
            <a:avLst/>
          </a:prstGeom>
          <a:solidFill>
            <a:srgbClr val="C9932E"/>
          </a:solidFill>
          <a:ln/>
        </p:spPr>
      </p:sp>
      <p:sp>
        <p:nvSpPr>
          <p:cNvPr id="11" name="Text 9"/>
          <p:cNvSpPr txBox="1"/>
          <p:nvPr/>
        </p:nvSpPr>
        <p:spPr>
          <a:xfrm>
            <a:off x="4599432" y="19476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599432" y="2514600"/>
            <a:ext cx="3099816" cy="502920"/>
          </a:xfrm>
          <a:prstGeom prst="rect">
            <a:avLst/>
          </a:prstGeom>
          <a:noFill/>
          <a:ln/>
        </p:spPr>
        <p:txBody>
          <a:bodyPr wrap="square" lIns="0" tIns="0" rIns="0" bIns="0" rtlCol="0" anchor="t"/>
          <a:lstStyle/>
          <a:p>
            <a:pPr indent="0" marL="0">
              <a:buNone/>
            </a:pPr>
            <a:r>
              <a:rPr lang="en-US" sz="1350" b="1" dirty="0">
                <a:solidFill>
                  <a:srgbClr val="3D2645"/>
                </a:solidFill>
                <a:latin typeface="Cambria" pitchFamily="34" charset="0"/>
                <a:ea typeface="Cambria" pitchFamily="34" charset="-122"/>
                <a:cs typeface="Cambria" pitchFamily="34" charset="-120"/>
              </a:rPr>
              <a:t>Predictive Systems</a:t>
            </a:r>
            <a:endParaRPr lang="en-US" sz="1350" dirty="0"/>
          </a:p>
        </p:txBody>
      </p:sp>
      <p:sp>
        <p:nvSpPr>
          <p:cNvPr id="13" name="Text 11"/>
          <p:cNvSpPr txBox="1"/>
          <p:nvPr/>
        </p:nvSpPr>
        <p:spPr>
          <a:xfrm>
            <a:off x="4599432" y="3017520"/>
            <a:ext cx="3099816" cy="54864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Forecasting continuous values such as air quality index (AQI) or demand</a:t>
            </a:r>
            <a:endParaRPr lang="en-US" sz="1050" dirty="0"/>
          </a:p>
        </p:txBody>
      </p:sp>
      <p:sp>
        <p:nvSpPr>
          <p:cNvPr id="14" name="Shape 12"/>
          <p:cNvSpPr/>
          <p:nvPr/>
        </p:nvSpPr>
        <p:spPr>
          <a:xfrm>
            <a:off x="8138160" y="1691640"/>
            <a:ext cx="3611880" cy="1920240"/>
          </a:xfrm>
          <a:prstGeom prst="rect">
            <a:avLst/>
          </a:prstGeom>
          <a:solidFill>
            <a:srgbClr val="F7F4F2"/>
          </a:solidFill>
          <a:ln w="12700">
            <a:solidFill>
              <a:srgbClr val="E7E1DD"/>
            </a:solidFill>
            <a:prstDash val="solid"/>
          </a:ln>
        </p:spPr>
      </p:sp>
      <p:sp>
        <p:nvSpPr>
          <p:cNvPr id="15" name="Shape 13"/>
          <p:cNvSpPr/>
          <p:nvPr/>
        </p:nvSpPr>
        <p:spPr>
          <a:xfrm>
            <a:off x="8394192" y="1947672"/>
            <a:ext cx="402336" cy="402336"/>
          </a:xfrm>
          <a:prstGeom prst="ellipse">
            <a:avLst/>
          </a:prstGeom>
          <a:solidFill>
            <a:srgbClr val="3D2645"/>
          </a:solidFill>
          <a:ln/>
        </p:spPr>
      </p:sp>
      <p:sp>
        <p:nvSpPr>
          <p:cNvPr id="16" name="Text 14"/>
          <p:cNvSpPr txBox="1"/>
          <p:nvPr/>
        </p:nvSpPr>
        <p:spPr>
          <a:xfrm>
            <a:off x="8394192" y="19476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94192" y="2514600"/>
            <a:ext cx="3099816" cy="502920"/>
          </a:xfrm>
          <a:prstGeom prst="rect">
            <a:avLst/>
          </a:prstGeom>
          <a:noFill/>
          <a:ln/>
        </p:spPr>
        <p:txBody>
          <a:bodyPr wrap="square" lIns="0" tIns="0" rIns="0" bIns="0" rtlCol="0" anchor="t"/>
          <a:lstStyle/>
          <a:p>
            <a:pPr indent="0" marL="0">
              <a:buNone/>
            </a:pPr>
            <a:r>
              <a:rPr lang="en-US" sz="1350" b="1" dirty="0">
                <a:solidFill>
                  <a:srgbClr val="3D2645"/>
                </a:solidFill>
                <a:latin typeface="Cambria" pitchFamily="34" charset="0"/>
                <a:ea typeface="Cambria" pitchFamily="34" charset="-122"/>
                <a:cs typeface="Cambria" pitchFamily="34" charset="-120"/>
              </a:rPr>
              <a:t>Natural Language Processing</a:t>
            </a:r>
            <a:endParaRPr lang="en-US" sz="1350" dirty="0"/>
          </a:p>
        </p:txBody>
      </p:sp>
      <p:sp>
        <p:nvSpPr>
          <p:cNvPr id="18" name="Text 16"/>
          <p:cNvSpPr txBox="1"/>
          <p:nvPr/>
        </p:nvSpPr>
        <p:spPr>
          <a:xfrm>
            <a:off x="8394192" y="3017520"/>
            <a:ext cx="3099816" cy="54864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Chatbots and conversational assistants that understand user queries</a:t>
            </a:r>
            <a:endParaRPr lang="en-US" sz="1050" dirty="0"/>
          </a:p>
        </p:txBody>
      </p:sp>
      <p:sp>
        <p:nvSpPr>
          <p:cNvPr id="19" name="Shape 17"/>
          <p:cNvSpPr/>
          <p:nvPr/>
        </p:nvSpPr>
        <p:spPr>
          <a:xfrm>
            <a:off x="548640" y="3886200"/>
            <a:ext cx="3611880" cy="1920240"/>
          </a:xfrm>
          <a:prstGeom prst="rect">
            <a:avLst/>
          </a:prstGeom>
          <a:solidFill>
            <a:srgbClr val="F7F4F2"/>
          </a:solidFill>
          <a:ln w="12700">
            <a:solidFill>
              <a:srgbClr val="E7E1DD"/>
            </a:solidFill>
            <a:prstDash val="solid"/>
          </a:ln>
        </p:spPr>
      </p:sp>
      <p:sp>
        <p:nvSpPr>
          <p:cNvPr id="20" name="Shape 18"/>
          <p:cNvSpPr/>
          <p:nvPr/>
        </p:nvSpPr>
        <p:spPr>
          <a:xfrm>
            <a:off x="804672" y="4142232"/>
            <a:ext cx="402336" cy="402336"/>
          </a:xfrm>
          <a:prstGeom prst="ellipse">
            <a:avLst/>
          </a:prstGeom>
          <a:solidFill>
            <a:srgbClr val="C9932E"/>
          </a:solidFill>
          <a:ln/>
        </p:spPr>
      </p:sp>
      <p:sp>
        <p:nvSpPr>
          <p:cNvPr id="21" name="Text 19"/>
          <p:cNvSpPr txBox="1"/>
          <p:nvPr/>
        </p:nvSpPr>
        <p:spPr>
          <a:xfrm>
            <a:off x="804672" y="4142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804672" y="4709160"/>
            <a:ext cx="3099816" cy="502920"/>
          </a:xfrm>
          <a:prstGeom prst="rect">
            <a:avLst/>
          </a:prstGeom>
          <a:noFill/>
          <a:ln/>
        </p:spPr>
        <p:txBody>
          <a:bodyPr wrap="square" lIns="0" tIns="0" rIns="0" bIns="0" rtlCol="0" anchor="t"/>
          <a:lstStyle/>
          <a:p>
            <a:pPr indent="0" marL="0">
              <a:buNone/>
            </a:pPr>
            <a:r>
              <a:rPr lang="en-US" sz="1350" b="1" dirty="0">
                <a:solidFill>
                  <a:srgbClr val="3D2645"/>
                </a:solidFill>
                <a:latin typeface="Cambria" pitchFamily="34" charset="0"/>
                <a:ea typeface="Cambria" pitchFamily="34" charset="-122"/>
                <a:cs typeface="Cambria" pitchFamily="34" charset="-120"/>
              </a:rPr>
              <a:t>Healthcare</a:t>
            </a:r>
            <a:endParaRPr lang="en-US" sz="1350" dirty="0"/>
          </a:p>
        </p:txBody>
      </p:sp>
      <p:sp>
        <p:nvSpPr>
          <p:cNvPr id="23" name="Text 21"/>
          <p:cNvSpPr txBox="1"/>
          <p:nvPr/>
        </p:nvSpPr>
        <p:spPr>
          <a:xfrm>
            <a:off x="804672" y="5212080"/>
            <a:ext cx="3099816" cy="54864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Assisting diagnosis and medical guidance systems</a:t>
            </a:r>
            <a:endParaRPr lang="en-US" sz="1050" dirty="0"/>
          </a:p>
        </p:txBody>
      </p:sp>
      <p:sp>
        <p:nvSpPr>
          <p:cNvPr id="24" name="Shape 22"/>
          <p:cNvSpPr/>
          <p:nvPr/>
        </p:nvSpPr>
        <p:spPr>
          <a:xfrm>
            <a:off x="4343400" y="3886200"/>
            <a:ext cx="3611880" cy="1920240"/>
          </a:xfrm>
          <a:prstGeom prst="rect">
            <a:avLst/>
          </a:prstGeom>
          <a:solidFill>
            <a:srgbClr val="F7F4F2"/>
          </a:solidFill>
          <a:ln w="12700">
            <a:solidFill>
              <a:srgbClr val="E7E1DD"/>
            </a:solidFill>
            <a:prstDash val="solid"/>
          </a:ln>
        </p:spPr>
      </p:sp>
      <p:sp>
        <p:nvSpPr>
          <p:cNvPr id="25" name="Shape 23"/>
          <p:cNvSpPr/>
          <p:nvPr/>
        </p:nvSpPr>
        <p:spPr>
          <a:xfrm>
            <a:off x="4599432" y="4142232"/>
            <a:ext cx="402336" cy="402336"/>
          </a:xfrm>
          <a:prstGeom prst="ellipse">
            <a:avLst/>
          </a:prstGeom>
          <a:solidFill>
            <a:srgbClr val="3D2645"/>
          </a:solidFill>
          <a:ln/>
        </p:spPr>
      </p:sp>
      <p:sp>
        <p:nvSpPr>
          <p:cNvPr id="26" name="Text 24"/>
          <p:cNvSpPr txBox="1"/>
          <p:nvPr/>
        </p:nvSpPr>
        <p:spPr>
          <a:xfrm>
            <a:off x="4599432" y="4142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4599432" y="4709160"/>
            <a:ext cx="3099816" cy="502920"/>
          </a:xfrm>
          <a:prstGeom prst="rect">
            <a:avLst/>
          </a:prstGeom>
          <a:noFill/>
          <a:ln/>
        </p:spPr>
        <p:txBody>
          <a:bodyPr wrap="square" lIns="0" tIns="0" rIns="0" bIns="0" rtlCol="0" anchor="t"/>
          <a:lstStyle/>
          <a:p>
            <a:pPr indent="0" marL="0">
              <a:buNone/>
            </a:pPr>
            <a:r>
              <a:rPr lang="en-US" sz="1350" b="1" dirty="0">
                <a:solidFill>
                  <a:srgbClr val="3D2645"/>
                </a:solidFill>
                <a:latin typeface="Cambria" pitchFamily="34" charset="0"/>
                <a:ea typeface="Cambria" pitchFamily="34" charset="-122"/>
                <a:cs typeface="Cambria" pitchFamily="34" charset="-120"/>
              </a:rPr>
              <a:t>Finance</a:t>
            </a:r>
            <a:endParaRPr lang="en-US" sz="1350" dirty="0"/>
          </a:p>
        </p:txBody>
      </p:sp>
      <p:sp>
        <p:nvSpPr>
          <p:cNvPr id="28" name="Text 26"/>
          <p:cNvSpPr txBox="1"/>
          <p:nvPr/>
        </p:nvSpPr>
        <p:spPr>
          <a:xfrm>
            <a:off x="4599432" y="5212080"/>
            <a:ext cx="3099816" cy="54864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Fraud detection and stock trend prediction</a:t>
            </a:r>
            <a:endParaRPr lang="en-US" sz="1050" dirty="0"/>
          </a:p>
        </p:txBody>
      </p:sp>
      <p:sp>
        <p:nvSpPr>
          <p:cNvPr id="29" name="Shape 27"/>
          <p:cNvSpPr/>
          <p:nvPr/>
        </p:nvSpPr>
        <p:spPr>
          <a:xfrm>
            <a:off x="8138160" y="3886200"/>
            <a:ext cx="3611880" cy="1920240"/>
          </a:xfrm>
          <a:prstGeom prst="rect">
            <a:avLst/>
          </a:prstGeom>
          <a:solidFill>
            <a:srgbClr val="F7F4F2"/>
          </a:solidFill>
          <a:ln w="12700">
            <a:solidFill>
              <a:srgbClr val="E7E1DD"/>
            </a:solidFill>
            <a:prstDash val="solid"/>
          </a:ln>
        </p:spPr>
      </p:sp>
      <p:sp>
        <p:nvSpPr>
          <p:cNvPr id="30" name="Shape 28"/>
          <p:cNvSpPr/>
          <p:nvPr/>
        </p:nvSpPr>
        <p:spPr>
          <a:xfrm>
            <a:off x="8394192" y="4142232"/>
            <a:ext cx="402336" cy="402336"/>
          </a:xfrm>
          <a:prstGeom prst="ellipse">
            <a:avLst/>
          </a:prstGeom>
          <a:solidFill>
            <a:srgbClr val="C9932E"/>
          </a:solidFill>
          <a:ln/>
        </p:spPr>
      </p:sp>
      <p:sp>
        <p:nvSpPr>
          <p:cNvPr id="31" name="Text 29"/>
          <p:cNvSpPr txBox="1"/>
          <p:nvPr/>
        </p:nvSpPr>
        <p:spPr>
          <a:xfrm>
            <a:off x="8394192" y="4142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394192" y="4709160"/>
            <a:ext cx="3099816" cy="502920"/>
          </a:xfrm>
          <a:prstGeom prst="rect">
            <a:avLst/>
          </a:prstGeom>
          <a:noFill/>
          <a:ln/>
        </p:spPr>
        <p:txBody>
          <a:bodyPr wrap="square" lIns="0" tIns="0" rIns="0" bIns="0" rtlCol="0" anchor="t"/>
          <a:lstStyle/>
          <a:p>
            <a:pPr indent="0" marL="0">
              <a:buNone/>
            </a:pPr>
            <a:r>
              <a:rPr lang="en-US" sz="1350" b="1" dirty="0">
                <a:solidFill>
                  <a:srgbClr val="3D2645"/>
                </a:solidFill>
                <a:latin typeface="Cambria" pitchFamily="34" charset="0"/>
                <a:ea typeface="Cambria" pitchFamily="34" charset="-122"/>
                <a:cs typeface="Cambria" pitchFamily="34" charset="-120"/>
              </a:rPr>
              <a:t>Autonomous Systems</a:t>
            </a:r>
            <a:endParaRPr lang="en-US" sz="1350" dirty="0"/>
          </a:p>
        </p:txBody>
      </p:sp>
      <p:sp>
        <p:nvSpPr>
          <p:cNvPr id="33" name="Text 31"/>
          <p:cNvSpPr txBox="1"/>
          <p:nvPr/>
        </p:nvSpPr>
        <p:spPr>
          <a:xfrm>
            <a:off x="8394192" y="5212080"/>
            <a:ext cx="3099816" cy="548640"/>
          </a:xfrm>
          <a:prstGeom prst="rect">
            <a:avLst/>
          </a:prstGeom>
          <a:noFill/>
          <a:ln/>
        </p:spPr>
        <p:txBody>
          <a:bodyPr wrap="square" lIns="0" tIns="0" rIns="0" bIns="0" rtlCol="0" anchor="t"/>
          <a:lstStyle/>
          <a:p>
            <a:pPr indent="0" marL="0">
              <a:lnSpc>
                <a:spcPct val="115000"/>
              </a:lnSpc>
              <a:buNone/>
            </a:pPr>
            <a:r>
              <a:rPr lang="en-US" sz="1050" dirty="0">
                <a:solidFill>
                  <a:srgbClr val="6F6774"/>
                </a:solidFill>
                <a:latin typeface="Calibri" pitchFamily="34" charset="0"/>
                <a:ea typeface="Calibri" pitchFamily="34" charset="-122"/>
                <a:cs typeface="Calibri" pitchFamily="34" charset="-120"/>
              </a:rPr>
              <a:t>Perception and decision-making in self-driving vehicles &amp; robotics</a:t>
            </a:r>
            <a:endParaRPr lang="en-US" sz="1050" dirty="0"/>
          </a:p>
        </p:txBody>
      </p:sp>
      <p:sp>
        <p:nvSpPr>
          <p:cNvPr id="34" name="Text 32"/>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35" name="Text 33"/>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CHAPTER 4.9</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Results &amp; Observations</a:t>
            </a:r>
            <a:endParaRPr lang="en-US" sz="3000" dirty="0"/>
          </a:p>
        </p:txBody>
      </p:sp>
      <p:sp>
        <p:nvSpPr>
          <p:cNvPr id="4" name="Text 2"/>
          <p:cNvSpPr txBox="1"/>
          <p:nvPr/>
        </p:nvSpPr>
        <p:spPr>
          <a:xfrm>
            <a:off x="548640" y="1508760"/>
            <a:ext cx="11064240" cy="640080"/>
          </a:xfrm>
          <a:prstGeom prst="rect">
            <a:avLst/>
          </a:prstGeom>
          <a:noFill/>
          <a:ln/>
        </p:spPr>
        <p:txBody>
          <a:bodyPr wrap="square" lIns="0" tIns="0" rIns="0" bIns="0" rtlCol="0" anchor="t"/>
          <a:lstStyle/>
          <a:p>
            <a:pPr indent="0" marL="0">
              <a:lnSpc>
                <a:spcPct val="125000"/>
              </a:lnSpc>
              <a:buNone/>
            </a:pPr>
            <a:r>
              <a:rPr lang="en-US" sz="1300" dirty="0">
                <a:solidFill>
                  <a:srgbClr val="262229"/>
                </a:solidFill>
                <a:latin typeface="Calibri" pitchFamily="34" charset="0"/>
                <a:ea typeface="Calibri" pitchFamily="34" charset="-122"/>
                <a:cs typeface="Calibri" pitchFamily="34" charset="-120"/>
              </a:rPr>
              <a:t>The implemented network showed a steady decrease in training loss and a corresponding rise in accuracy across epochs, confirming that the model was successfully learning patterns from the data.</a:t>
            </a:r>
            <a:endParaRPr lang="en-US" sz="1300" dirty="0"/>
          </a:p>
        </p:txBody>
      </p:sp>
      <p:sp>
        <p:nvSpPr>
          <p:cNvPr id="5" name="Text 3"/>
          <p:cNvSpPr txBox="1"/>
          <p:nvPr/>
        </p:nvSpPr>
        <p:spPr>
          <a:xfrm>
            <a:off x="548640" y="2240280"/>
            <a:ext cx="6400800" cy="274320"/>
          </a:xfrm>
          <a:prstGeom prst="rect">
            <a:avLst/>
          </a:prstGeom>
          <a:noFill/>
          <a:ln/>
        </p:spPr>
        <p:txBody>
          <a:bodyPr wrap="square" lIns="0" tIns="0" rIns="0" bIns="0" rtlCol="0" anchor="ctr"/>
          <a:lstStyle/>
          <a:p>
            <a:pPr indent="0" marL="0">
              <a:buNone/>
            </a:pPr>
            <a:r>
              <a:rPr lang="en-US" sz="1100" b="1" spc="100" kern="0" dirty="0">
                <a:solidFill>
                  <a:srgbClr val="C9932E"/>
                </a:solidFill>
                <a:latin typeface="Calibri" pitchFamily="34" charset="0"/>
                <a:ea typeface="Calibri" pitchFamily="34" charset="-122"/>
                <a:cs typeface="Calibri" pitchFamily="34" charset="-120"/>
              </a:rPr>
              <a:t>TRAINING PROGRESS (ILLUSTRATIVE)</a:t>
            </a:r>
            <a:endParaRPr lang="en-US" sz="1100" dirty="0"/>
          </a:p>
        </p:txBody>
      </p:sp>
      <p:graphicFrame>
        <p:nvGraphicFramePr>
          <p:cNvPr id="6" name="Chart 0" descr=""/>
          <p:cNvGraphicFramePr/>
          <p:nvPr/>
        </p:nvGraphicFramePr>
        <p:xfrm>
          <a:off x="502920" y="2514600"/>
          <a:ext cx="6949440" cy="3703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18120" y="2697480"/>
            <a:ext cx="128016" cy="128016"/>
          </a:xfrm>
          <a:prstGeom prst="ellipse">
            <a:avLst/>
          </a:prstGeom>
          <a:solidFill>
            <a:srgbClr val="C9932E"/>
          </a:solidFill>
          <a:ln/>
        </p:spPr>
      </p:sp>
      <p:sp>
        <p:nvSpPr>
          <p:cNvPr id="8" name="Text 5"/>
          <p:cNvSpPr txBox="1"/>
          <p:nvPr/>
        </p:nvSpPr>
        <p:spPr>
          <a:xfrm>
            <a:off x="8092440" y="2578608"/>
            <a:ext cx="3566160" cy="77724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Loss decreased consistently, indicating correct backpropagation implementation</a:t>
            </a:r>
            <a:endParaRPr lang="en-US" sz="1200" dirty="0"/>
          </a:p>
        </p:txBody>
      </p:sp>
      <p:sp>
        <p:nvSpPr>
          <p:cNvPr id="9" name="Shape 6"/>
          <p:cNvSpPr/>
          <p:nvPr/>
        </p:nvSpPr>
        <p:spPr>
          <a:xfrm>
            <a:off x="7818120" y="3657600"/>
            <a:ext cx="128016" cy="128016"/>
          </a:xfrm>
          <a:prstGeom prst="ellipse">
            <a:avLst/>
          </a:prstGeom>
          <a:solidFill>
            <a:srgbClr val="C9932E"/>
          </a:solidFill>
          <a:ln/>
        </p:spPr>
      </p:sp>
      <p:sp>
        <p:nvSpPr>
          <p:cNvPr id="10" name="Text 7"/>
          <p:cNvSpPr txBox="1"/>
          <p:nvPr/>
        </p:nvSpPr>
        <p:spPr>
          <a:xfrm>
            <a:off x="8092440" y="3538728"/>
            <a:ext cx="3566160" cy="77724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Accuracy improved with more training epochs, then plateaued</a:t>
            </a:r>
            <a:endParaRPr lang="en-US" sz="1200" dirty="0"/>
          </a:p>
        </p:txBody>
      </p:sp>
      <p:sp>
        <p:nvSpPr>
          <p:cNvPr id="11" name="Shape 8"/>
          <p:cNvSpPr/>
          <p:nvPr/>
        </p:nvSpPr>
        <p:spPr>
          <a:xfrm>
            <a:off x="7818120" y="4617720"/>
            <a:ext cx="128016" cy="128016"/>
          </a:xfrm>
          <a:prstGeom prst="ellipse">
            <a:avLst/>
          </a:prstGeom>
          <a:solidFill>
            <a:srgbClr val="C9932E"/>
          </a:solidFill>
          <a:ln/>
        </p:spPr>
      </p:sp>
      <p:sp>
        <p:nvSpPr>
          <p:cNvPr id="12" name="Text 9"/>
          <p:cNvSpPr txBox="1"/>
          <p:nvPr/>
        </p:nvSpPr>
        <p:spPr>
          <a:xfrm>
            <a:off x="8092440" y="4498848"/>
            <a:ext cx="3566160" cy="77724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Choice of activation function affected convergence speed</a:t>
            </a:r>
            <a:endParaRPr lang="en-US" sz="1200" dirty="0"/>
          </a:p>
        </p:txBody>
      </p:sp>
      <p:sp>
        <p:nvSpPr>
          <p:cNvPr id="13" name="Shape 10"/>
          <p:cNvSpPr/>
          <p:nvPr/>
        </p:nvSpPr>
        <p:spPr>
          <a:xfrm>
            <a:off x="7818120" y="5577840"/>
            <a:ext cx="128016" cy="128016"/>
          </a:xfrm>
          <a:prstGeom prst="ellipse">
            <a:avLst/>
          </a:prstGeom>
          <a:solidFill>
            <a:srgbClr val="C9932E"/>
          </a:solidFill>
          <a:ln/>
        </p:spPr>
      </p:sp>
      <p:sp>
        <p:nvSpPr>
          <p:cNvPr id="14" name="Text 11"/>
          <p:cNvSpPr txBox="1"/>
          <p:nvPr/>
        </p:nvSpPr>
        <p:spPr>
          <a:xfrm>
            <a:off x="8092440" y="5458968"/>
            <a:ext cx="3566160" cy="777240"/>
          </a:xfrm>
          <a:prstGeom prst="rect">
            <a:avLst/>
          </a:prstGeom>
          <a:noFill/>
          <a:ln/>
        </p:spPr>
        <p:txBody>
          <a:bodyPr wrap="square" lIns="0" tIns="0" rIns="0" bIns="0" rtlCol="0" anchor="t"/>
          <a:lstStyle/>
          <a:p>
            <a:pPr indent="0" marL="0">
              <a:lnSpc>
                <a:spcPct val="120000"/>
              </a:lnSpc>
              <a:buNone/>
            </a:pPr>
            <a:r>
              <a:rPr lang="en-US" sz="1200" dirty="0">
                <a:solidFill>
                  <a:srgbClr val="262229"/>
                </a:solidFill>
                <a:latin typeface="Calibri" pitchFamily="34" charset="0"/>
                <a:ea typeface="Calibri" pitchFamily="34" charset="-122"/>
                <a:cs typeface="Calibri" pitchFamily="34" charset="-120"/>
              </a:rPr>
              <a:t>Learning rate had to be tuned to avoid slow or unstable training</a:t>
            </a:r>
            <a:endParaRPr lang="en-US" sz="1200" dirty="0"/>
          </a:p>
        </p:txBody>
      </p:sp>
      <p:sp>
        <p:nvSpPr>
          <p:cNvPr id="15" name="Text 12"/>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16" name="Text 13"/>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ROADBLOCKS</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Challenges Faced</a:t>
            </a:r>
            <a:endParaRPr lang="en-US" sz="3000" dirty="0"/>
          </a:p>
        </p:txBody>
      </p:sp>
      <p:sp>
        <p:nvSpPr>
          <p:cNvPr id="4" name="Shape 2"/>
          <p:cNvSpPr/>
          <p:nvPr/>
        </p:nvSpPr>
        <p:spPr>
          <a:xfrm>
            <a:off x="548640" y="1691640"/>
            <a:ext cx="5349240" cy="1965960"/>
          </a:xfrm>
          <a:prstGeom prst="rect">
            <a:avLst/>
          </a:prstGeom>
          <a:solidFill>
            <a:srgbClr val="F7F4F2"/>
          </a:solidFill>
          <a:ln w="12700">
            <a:solidFill>
              <a:srgbClr val="E7E1DD"/>
            </a:solidFill>
            <a:prstDash val="solid"/>
          </a:ln>
        </p:spPr>
      </p:sp>
      <p:sp>
        <p:nvSpPr>
          <p:cNvPr id="5" name="Shape 3"/>
          <p:cNvSpPr/>
          <p:nvPr/>
        </p:nvSpPr>
        <p:spPr>
          <a:xfrm>
            <a:off x="822960" y="1947672"/>
            <a:ext cx="402336" cy="402336"/>
          </a:xfrm>
          <a:prstGeom prst="ellipse">
            <a:avLst/>
          </a:prstGeom>
          <a:solidFill>
            <a:srgbClr val="C0392B"/>
          </a:solidFill>
          <a:ln/>
        </p:spPr>
      </p:sp>
      <p:sp>
        <p:nvSpPr>
          <p:cNvPr id="6" name="Text 4"/>
          <p:cNvSpPr txBox="1"/>
          <p:nvPr/>
        </p:nvSpPr>
        <p:spPr>
          <a:xfrm>
            <a:off x="822960" y="1947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txBox="1"/>
          <p:nvPr/>
        </p:nvSpPr>
        <p:spPr>
          <a:xfrm>
            <a:off x="1371600" y="1965960"/>
            <a:ext cx="4251960" cy="41148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Mathematical Foundation</a:t>
            </a:r>
            <a:endParaRPr lang="en-US" sz="1500" dirty="0"/>
          </a:p>
        </p:txBody>
      </p:sp>
      <p:sp>
        <p:nvSpPr>
          <p:cNvPr id="8" name="Text 6"/>
          <p:cNvSpPr txBox="1"/>
          <p:nvPr/>
        </p:nvSpPr>
        <p:spPr>
          <a:xfrm>
            <a:off x="822960" y="2560320"/>
            <a:ext cx="4800600" cy="100584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Understanding matrix calculus behind backpropagation required extra study of linear algebra and derivatives.</a:t>
            </a:r>
            <a:endParaRPr lang="en-US" sz="1150" dirty="0"/>
          </a:p>
        </p:txBody>
      </p:sp>
      <p:sp>
        <p:nvSpPr>
          <p:cNvPr id="9" name="Shape 7"/>
          <p:cNvSpPr/>
          <p:nvPr/>
        </p:nvSpPr>
        <p:spPr>
          <a:xfrm>
            <a:off x="6217920" y="1691640"/>
            <a:ext cx="5349240" cy="1965960"/>
          </a:xfrm>
          <a:prstGeom prst="rect">
            <a:avLst/>
          </a:prstGeom>
          <a:solidFill>
            <a:srgbClr val="F7F4F2"/>
          </a:solidFill>
          <a:ln w="12700">
            <a:solidFill>
              <a:srgbClr val="E7E1DD"/>
            </a:solidFill>
            <a:prstDash val="solid"/>
          </a:ln>
        </p:spPr>
      </p:sp>
      <p:sp>
        <p:nvSpPr>
          <p:cNvPr id="10" name="Shape 8"/>
          <p:cNvSpPr/>
          <p:nvPr/>
        </p:nvSpPr>
        <p:spPr>
          <a:xfrm>
            <a:off x="6492240" y="1947672"/>
            <a:ext cx="402336" cy="402336"/>
          </a:xfrm>
          <a:prstGeom prst="ellipse">
            <a:avLst/>
          </a:prstGeom>
          <a:solidFill>
            <a:srgbClr val="C0392B"/>
          </a:solidFill>
          <a:ln/>
        </p:spPr>
      </p:sp>
      <p:sp>
        <p:nvSpPr>
          <p:cNvPr id="11" name="Text 9"/>
          <p:cNvSpPr txBox="1"/>
          <p:nvPr/>
        </p:nvSpPr>
        <p:spPr>
          <a:xfrm>
            <a:off x="6492240" y="1947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7040880" y="1965960"/>
            <a:ext cx="4251960" cy="41148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Debugging From Scratch</a:t>
            </a:r>
            <a:endParaRPr lang="en-US" sz="1500" dirty="0"/>
          </a:p>
        </p:txBody>
      </p:sp>
      <p:sp>
        <p:nvSpPr>
          <p:cNvPr id="13" name="Text 11"/>
          <p:cNvSpPr txBox="1"/>
          <p:nvPr/>
        </p:nvSpPr>
        <p:spPr>
          <a:xfrm>
            <a:off x="6492240" y="2560320"/>
            <a:ext cx="4800600" cy="100584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Implementing the network without a high-level framework meant every bug (shape mismatches, wrong gradients) had to be traced manually.</a:t>
            </a:r>
            <a:endParaRPr lang="en-US" sz="1150" dirty="0"/>
          </a:p>
        </p:txBody>
      </p:sp>
      <p:sp>
        <p:nvSpPr>
          <p:cNvPr id="14" name="Shape 12"/>
          <p:cNvSpPr/>
          <p:nvPr/>
        </p:nvSpPr>
        <p:spPr>
          <a:xfrm>
            <a:off x="548640" y="3977640"/>
            <a:ext cx="5349240" cy="1965960"/>
          </a:xfrm>
          <a:prstGeom prst="rect">
            <a:avLst/>
          </a:prstGeom>
          <a:solidFill>
            <a:srgbClr val="F7F4F2"/>
          </a:solidFill>
          <a:ln w="12700">
            <a:solidFill>
              <a:srgbClr val="E7E1DD"/>
            </a:solidFill>
            <a:prstDash val="solid"/>
          </a:ln>
        </p:spPr>
      </p:sp>
      <p:sp>
        <p:nvSpPr>
          <p:cNvPr id="15" name="Shape 13"/>
          <p:cNvSpPr/>
          <p:nvPr/>
        </p:nvSpPr>
        <p:spPr>
          <a:xfrm>
            <a:off x="822960" y="4233672"/>
            <a:ext cx="402336" cy="402336"/>
          </a:xfrm>
          <a:prstGeom prst="ellipse">
            <a:avLst/>
          </a:prstGeom>
          <a:solidFill>
            <a:srgbClr val="C0392B"/>
          </a:solidFill>
          <a:ln/>
        </p:spPr>
      </p:sp>
      <p:sp>
        <p:nvSpPr>
          <p:cNvPr id="16" name="Text 14"/>
          <p:cNvSpPr txBox="1"/>
          <p:nvPr/>
        </p:nvSpPr>
        <p:spPr>
          <a:xfrm>
            <a:off x="822960" y="4233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371600" y="4251960"/>
            <a:ext cx="4251960" cy="41148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Hyperparameter Tuning</a:t>
            </a:r>
            <a:endParaRPr lang="en-US" sz="1500" dirty="0"/>
          </a:p>
        </p:txBody>
      </p:sp>
      <p:sp>
        <p:nvSpPr>
          <p:cNvPr id="18" name="Text 16"/>
          <p:cNvSpPr txBox="1"/>
          <p:nvPr/>
        </p:nvSpPr>
        <p:spPr>
          <a:xfrm>
            <a:off x="822960" y="4846320"/>
            <a:ext cx="4800600" cy="100584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Selecting an appropriate learning rate, number of hidden neurons and epochs took several rounds of experimentation.</a:t>
            </a:r>
            <a:endParaRPr lang="en-US" sz="1150" dirty="0"/>
          </a:p>
        </p:txBody>
      </p:sp>
      <p:sp>
        <p:nvSpPr>
          <p:cNvPr id="19" name="Shape 17"/>
          <p:cNvSpPr/>
          <p:nvPr/>
        </p:nvSpPr>
        <p:spPr>
          <a:xfrm>
            <a:off x="6217920" y="3977640"/>
            <a:ext cx="5349240" cy="1965960"/>
          </a:xfrm>
          <a:prstGeom prst="rect">
            <a:avLst/>
          </a:prstGeom>
          <a:solidFill>
            <a:srgbClr val="F7F4F2"/>
          </a:solidFill>
          <a:ln w="12700">
            <a:solidFill>
              <a:srgbClr val="E7E1DD"/>
            </a:solidFill>
            <a:prstDash val="solid"/>
          </a:ln>
        </p:spPr>
      </p:sp>
      <p:sp>
        <p:nvSpPr>
          <p:cNvPr id="20" name="Shape 18"/>
          <p:cNvSpPr/>
          <p:nvPr/>
        </p:nvSpPr>
        <p:spPr>
          <a:xfrm>
            <a:off x="6492240" y="4233672"/>
            <a:ext cx="402336" cy="402336"/>
          </a:xfrm>
          <a:prstGeom prst="ellipse">
            <a:avLst/>
          </a:prstGeom>
          <a:solidFill>
            <a:srgbClr val="C0392B"/>
          </a:solidFill>
          <a:ln/>
        </p:spPr>
      </p:sp>
      <p:sp>
        <p:nvSpPr>
          <p:cNvPr id="21" name="Text 19"/>
          <p:cNvSpPr txBox="1"/>
          <p:nvPr/>
        </p:nvSpPr>
        <p:spPr>
          <a:xfrm>
            <a:off x="6492240" y="4233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7040880" y="4251960"/>
            <a:ext cx="4251960" cy="411480"/>
          </a:xfrm>
          <a:prstGeom prst="rect">
            <a:avLst/>
          </a:prstGeom>
          <a:noFill/>
          <a:ln/>
        </p:spPr>
        <p:txBody>
          <a:bodyPr wrap="square" lIns="0" tIns="0" rIns="0" bIns="0" rtlCol="0" anchor="ctr"/>
          <a:lstStyle/>
          <a:p>
            <a:pPr indent="0" marL="0">
              <a:buNone/>
            </a:pPr>
            <a:r>
              <a:rPr lang="en-US" sz="1500" b="1" dirty="0">
                <a:solidFill>
                  <a:srgbClr val="3D2645"/>
                </a:solidFill>
                <a:latin typeface="Cambria" pitchFamily="34" charset="0"/>
                <a:ea typeface="Cambria" pitchFamily="34" charset="-122"/>
                <a:cs typeface="Cambria" pitchFamily="34" charset="-120"/>
              </a:rPr>
              <a:t>Overfitting</a:t>
            </a:r>
            <a:endParaRPr lang="en-US" sz="1500" dirty="0"/>
          </a:p>
        </p:txBody>
      </p:sp>
      <p:sp>
        <p:nvSpPr>
          <p:cNvPr id="23" name="Text 21"/>
          <p:cNvSpPr txBox="1"/>
          <p:nvPr/>
        </p:nvSpPr>
        <p:spPr>
          <a:xfrm>
            <a:off x="6492240" y="4846320"/>
            <a:ext cx="4800600" cy="1005840"/>
          </a:xfrm>
          <a:prstGeom prst="rect">
            <a:avLst/>
          </a:prstGeom>
          <a:noFill/>
          <a:ln/>
        </p:spPr>
        <p:txBody>
          <a:bodyPr wrap="square" lIns="0" tIns="0" rIns="0" bIns="0" rtlCol="0" anchor="t"/>
          <a:lstStyle/>
          <a:p>
            <a:pPr indent="0" marL="0">
              <a:lnSpc>
                <a:spcPct val="120000"/>
              </a:lnSpc>
              <a:buNone/>
            </a:pPr>
            <a:r>
              <a:rPr lang="en-US" sz="1150" dirty="0">
                <a:solidFill>
                  <a:srgbClr val="6F6774"/>
                </a:solidFill>
                <a:latin typeface="Calibri" pitchFamily="34" charset="0"/>
                <a:ea typeface="Calibri" pitchFamily="34" charset="-122"/>
                <a:cs typeface="Calibri" pitchFamily="34" charset="-120"/>
              </a:rPr>
              <a:t>The model sometimes performed well on training data but poorly on unseen data, requiring regularization awareness.</a:t>
            </a:r>
            <a:endParaRPr lang="en-US" sz="1150" dirty="0"/>
          </a:p>
        </p:txBody>
      </p:sp>
      <p:sp>
        <p:nvSpPr>
          <p:cNvPr id="24" name="Text 22"/>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25" name="Text 23"/>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TAKEAWAYS</a:t>
            </a:r>
            <a:endParaRPr lang="en-US" sz="1200" dirty="0"/>
          </a:p>
        </p:txBody>
      </p:sp>
      <p:sp>
        <p:nvSpPr>
          <p:cNvPr id="3" name="Text 1"/>
          <p:cNvSpPr txBox="1"/>
          <p:nvPr/>
        </p:nvSpPr>
        <p:spPr>
          <a:xfrm>
            <a:off x="548640" y="658368"/>
            <a:ext cx="10515600" cy="566928"/>
          </a:xfrm>
          <a:prstGeom prst="rect">
            <a:avLst/>
          </a:prstGeom>
          <a:noFill/>
          <a:ln/>
        </p:spPr>
        <p:txBody>
          <a:bodyPr wrap="square" lIns="0" tIns="0" rIns="0" bIns="0" rtlCol="0" anchor="ctr"/>
          <a:lstStyle/>
          <a:p>
            <a:pPr indent="0" marL="0">
              <a:buNone/>
            </a:pPr>
            <a:r>
              <a:rPr lang="en-US" sz="3000" b="1" dirty="0">
                <a:solidFill>
                  <a:srgbClr val="3D2645"/>
                </a:solidFill>
                <a:latin typeface="Cambria" pitchFamily="34" charset="0"/>
                <a:ea typeface="Cambria" pitchFamily="34" charset="-122"/>
                <a:cs typeface="Cambria" pitchFamily="34" charset="-120"/>
              </a:rPr>
              <a:t>Key Learnings &amp; Skills Gained</a:t>
            </a:r>
            <a:endParaRPr lang="en-US" sz="3000" dirty="0"/>
          </a:p>
        </p:txBody>
      </p:sp>
      <p:sp>
        <p:nvSpPr>
          <p:cNvPr id="4" name="Shape 2"/>
          <p:cNvSpPr/>
          <p:nvPr/>
        </p:nvSpPr>
        <p:spPr>
          <a:xfrm>
            <a:off x="548640" y="1737360"/>
            <a:ext cx="5349240" cy="1234440"/>
          </a:xfrm>
          <a:prstGeom prst="rect">
            <a:avLst/>
          </a:prstGeom>
          <a:solidFill>
            <a:srgbClr val="F7F4F2"/>
          </a:solidFill>
          <a:ln w="12700">
            <a:solidFill>
              <a:srgbClr val="E7E1DD"/>
            </a:solidFill>
            <a:prstDash val="solid"/>
          </a:ln>
        </p:spPr>
      </p:sp>
      <p:sp>
        <p:nvSpPr>
          <p:cNvPr id="5" name="Shape 3"/>
          <p:cNvSpPr/>
          <p:nvPr/>
        </p:nvSpPr>
        <p:spPr>
          <a:xfrm>
            <a:off x="777240" y="2180844"/>
            <a:ext cx="347472" cy="347472"/>
          </a:xfrm>
          <a:prstGeom prst="ellipse">
            <a:avLst/>
          </a:prstGeom>
          <a:solidFill>
            <a:srgbClr val="C9932E"/>
          </a:solidFill>
          <a:ln/>
        </p:spPr>
      </p:sp>
      <p:sp>
        <p:nvSpPr>
          <p:cNvPr id="6" name="Text 4"/>
          <p:cNvSpPr txBox="1"/>
          <p:nvPr/>
        </p:nvSpPr>
        <p:spPr>
          <a:xfrm>
            <a:off x="777240" y="218084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280160" y="1874520"/>
            <a:ext cx="4343400" cy="960120"/>
          </a:xfrm>
          <a:prstGeom prst="rect">
            <a:avLst/>
          </a:prstGeom>
          <a:noFill/>
          <a:ln/>
        </p:spPr>
        <p:txBody>
          <a:bodyPr wrap="square" lIns="0" tIns="0" rIns="0" bIns="0" rtlCol="0" anchor="ctr"/>
          <a:lstStyle/>
          <a:p>
            <a:pPr indent="0" marL="0">
              <a:lnSpc>
                <a:spcPct val="120000"/>
              </a:lnSpc>
              <a:buNone/>
            </a:pPr>
            <a:r>
              <a:rPr lang="en-US" sz="1250" dirty="0">
                <a:solidFill>
                  <a:srgbClr val="262229"/>
                </a:solidFill>
                <a:latin typeface="Calibri" pitchFamily="34" charset="0"/>
                <a:ea typeface="Calibri" pitchFamily="34" charset="-122"/>
                <a:cs typeface="Calibri" pitchFamily="34" charset="-120"/>
              </a:rPr>
              <a:t>Solid conceptual understanding of how neural networks learn</a:t>
            </a:r>
            <a:endParaRPr lang="en-US" sz="1250" dirty="0"/>
          </a:p>
        </p:txBody>
      </p:sp>
      <p:sp>
        <p:nvSpPr>
          <p:cNvPr id="8" name="Shape 6"/>
          <p:cNvSpPr/>
          <p:nvPr/>
        </p:nvSpPr>
        <p:spPr>
          <a:xfrm>
            <a:off x="6217920" y="1737360"/>
            <a:ext cx="5349240" cy="1234440"/>
          </a:xfrm>
          <a:prstGeom prst="rect">
            <a:avLst/>
          </a:prstGeom>
          <a:solidFill>
            <a:srgbClr val="F7F4F2"/>
          </a:solidFill>
          <a:ln w="12700">
            <a:solidFill>
              <a:srgbClr val="E7E1DD"/>
            </a:solidFill>
            <a:prstDash val="solid"/>
          </a:ln>
        </p:spPr>
      </p:sp>
      <p:sp>
        <p:nvSpPr>
          <p:cNvPr id="9" name="Shape 7"/>
          <p:cNvSpPr/>
          <p:nvPr/>
        </p:nvSpPr>
        <p:spPr>
          <a:xfrm>
            <a:off x="6446520" y="2180844"/>
            <a:ext cx="347472" cy="347472"/>
          </a:xfrm>
          <a:prstGeom prst="ellipse">
            <a:avLst/>
          </a:prstGeom>
          <a:solidFill>
            <a:srgbClr val="C9932E"/>
          </a:solidFill>
          <a:ln/>
        </p:spPr>
      </p:sp>
      <p:sp>
        <p:nvSpPr>
          <p:cNvPr id="10" name="Text 8"/>
          <p:cNvSpPr txBox="1"/>
          <p:nvPr/>
        </p:nvSpPr>
        <p:spPr>
          <a:xfrm>
            <a:off x="6446520" y="218084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6949440" y="1874520"/>
            <a:ext cx="4343400" cy="960120"/>
          </a:xfrm>
          <a:prstGeom prst="rect">
            <a:avLst/>
          </a:prstGeom>
          <a:noFill/>
          <a:ln/>
        </p:spPr>
        <p:txBody>
          <a:bodyPr wrap="square" lIns="0" tIns="0" rIns="0" bIns="0" rtlCol="0" anchor="ctr"/>
          <a:lstStyle/>
          <a:p>
            <a:pPr indent="0" marL="0">
              <a:lnSpc>
                <a:spcPct val="120000"/>
              </a:lnSpc>
              <a:buNone/>
            </a:pPr>
            <a:r>
              <a:rPr lang="en-US" sz="1250" dirty="0">
                <a:solidFill>
                  <a:srgbClr val="262229"/>
                </a:solidFill>
                <a:latin typeface="Calibri" pitchFamily="34" charset="0"/>
                <a:ea typeface="Calibri" pitchFamily="34" charset="-122"/>
                <a:cs typeface="Calibri" pitchFamily="34" charset="-120"/>
              </a:rPr>
              <a:t>Hands-on experience implementing ML concepts in Python &amp; NumPy</a:t>
            </a:r>
            <a:endParaRPr lang="en-US" sz="1250" dirty="0"/>
          </a:p>
        </p:txBody>
      </p:sp>
      <p:sp>
        <p:nvSpPr>
          <p:cNvPr id="12" name="Shape 10"/>
          <p:cNvSpPr/>
          <p:nvPr/>
        </p:nvSpPr>
        <p:spPr>
          <a:xfrm>
            <a:off x="548640" y="3227832"/>
            <a:ext cx="5349240" cy="1234440"/>
          </a:xfrm>
          <a:prstGeom prst="rect">
            <a:avLst/>
          </a:prstGeom>
          <a:solidFill>
            <a:srgbClr val="F7F4F2"/>
          </a:solidFill>
          <a:ln w="12700">
            <a:solidFill>
              <a:srgbClr val="E7E1DD"/>
            </a:solidFill>
            <a:prstDash val="solid"/>
          </a:ln>
        </p:spPr>
      </p:sp>
      <p:sp>
        <p:nvSpPr>
          <p:cNvPr id="13" name="Shape 11"/>
          <p:cNvSpPr/>
          <p:nvPr/>
        </p:nvSpPr>
        <p:spPr>
          <a:xfrm>
            <a:off x="777240" y="3671316"/>
            <a:ext cx="347472" cy="347472"/>
          </a:xfrm>
          <a:prstGeom prst="ellipse">
            <a:avLst/>
          </a:prstGeom>
          <a:solidFill>
            <a:srgbClr val="C9932E"/>
          </a:solidFill>
          <a:ln/>
        </p:spPr>
      </p:sp>
      <p:sp>
        <p:nvSpPr>
          <p:cNvPr id="14" name="Text 12"/>
          <p:cNvSpPr txBox="1"/>
          <p:nvPr/>
        </p:nvSpPr>
        <p:spPr>
          <a:xfrm>
            <a:off x="777240" y="367131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1280160" y="3364992"/>
            <a:ext cx="4343400" cy="960120"/>
          </a:xfrm>
          <a:prstGeom prst="rect">
            <a:avLst/>
          </a:prstGeom>
          <a:noFill/>
          <a:ln/>
        </p:spPr>
        <p:txBody>
          <a:bodyPr wrap="square" lIns="0" tIns="0" rIns="0" bIns="0" rtlCol="0" anchor="ctr"/>
          <a:lstStyle/>
          <a:p>
            <a:pPr indent="0" marL="0">
              <a:lnSpc>
                <a:spcPct val="120000"/>
              </a:lnSpc>
              <a:buNone/>
            </a:pPr>
            <a:r>
              <a:rPr lang="en-US" sz="1250" dirty="0">
                <a:solidFill>
                  <a:srgbClr val="262229"/>
                </a:solidFill>
                <a:latin typeface="Calibri" pitchFamily="34" charset="0"/>
                <a:ea typeface="Calibri" pitchFamily="34" charset="-122"/>
                <a:cs typeface="Calibri" pitchFamily="34" charset="-120"/>
              </a:rPr>
              <a:t>Improved data-handling skills using Pandas</a:t>
            </a:r>
            <a:endParaRPr lang="en-US" sz="1250" dirty="0"/>
          </a:p>
        </p:txBody>
      </p:sp>
      <p:sp>
        <p:nvSpPr>
          <p:cNvPr id="16" name="Shape 14"/>
          <p:cNvSpPr/>
          <p:nvPr/>
        </p:nvSpPr>
        <p:spPr>
          <a:xfrm>
            <a:off x="6217920" y="3227832"/>
            <a:ext cx="5349240" cy="1234440"/>
          </a:xfrm>
          <a:prstGeom prst="rect">
            <a:avLst/>
          </a:prstGeom>
          <a:solidFill>
            <a:srgbClr val="F7F4F2"/>
          </a:solidFill>
          <a:ln w="12700">
            <a:solidFill>
              <a:srgbClr val="E7E1DD"/>
            </a:solidFill>
            <a:prstDash val="solid"/>
          </a:ln>
        </p:spPr>
      </p:sp>
      <p:sp>
        <p:nvSpPr>
          <p:cNvPr id="17" name="Shape 15"/>
          <p:cNvSpPr/>
          <p:nvPr/>
        </p:nvSpPr>
        <p:spPr>
          <a:xfrm>
            <a:off x="6446520" y="3671316"/>
            <a:ext cx="347472" cy="347472"/>
          </a:xfrm>
          <a:prstGeom prst="ellipse">
            <a:avLst/>
          </a:prstGeom>
          <a:solidFill>
            <a:srgbClr val="C9932E"/>
          </a:solidFill>
          <a:ln/>
        </p:spPr>
      </p:sp>
      <p:sp>
        <p:nvSpPr>
          <p:cNvPr id="18" name="Text 16"/>
          <p:cNvSpPr txBox="1"/>
          <p:nvPr/>
        </p:nvSpPr>
        <p:spPr>
          <a:xfrm>
            <a:off x="6446520" y="367131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6949440" y="3364992"/>
            <a:ext cx="4343400" cy="960120"/>
          </a:xfrm>
          <a:prstGeom prst="rect">
            <a:avLst/>
          </a:prstGeom>
          <a:noFill/>
          <a:ln/>
        </p:spPr>
        <p:txBody>
          <a:bodyPr wrap="square" lIns="0" tIns="0" rIns="0" bIns="0" rtlCol="0" anchor="ctr"/>
          <a:lstStyle/>
          <a:p>
            <a:pPr indent="0" marL="0">
              <a:lnSpc>
                <a:spcPct val="120000"/>
              </a:lnSpc>
              <a:buNone/>
            </a:pPr>
            <a:r>
              <a:rPr lang="en-US" sz="1250" dirty="0">
                <a:solidFill>
                  <a:srgbClr val="262229"/>
                </a:solidFill>
                <a:latin typeface="Calibri" pitchFamily="34" charset="0"/>
                <a:ea typeface="Calibri" pitchFamily="34" charset="-122"/>
                <a:cs typeface="Calibri" pitchFamily="34" charset="-120"/>
              </a:rPr>
              <a:t>Ability to visualize and interpret model performance with Matplotlib</a:t>
            </a:r>
            <a:endParaRPr lang="en-US" sz="1250" dirty="0"/>
          </a:p>
        </p:txBody>
      </p:sp>
      <p:sp>
        <p:nvSpPr>
          <p:cNvPr id="20" name="Shape 18"/>
          <p:cNvSpPr/>
          <p:nvPr/>
        </p:nvSpPr>
        <p:spPr>
          <a:xfrm>
            <a:off x="548640" y="4718304"/>
            <a:ext cx="5349240" cy="1234440"/>
          </a:xfrm>
          <a:prstGeom prst="rect">
            <a:avLst/>
          </a:prstGeom>
          <a:solidFill>
            <a:srgbClr val="F7F4F2"/>
          </a:solidFill>
          <a:ln w="12700">
            <a:solidFill>
              <a:srgbClr val="E7E1DD"/>
            </a:solidFill>
            <a:prstDash val="solid"/>
          </a:ln>
        </p:spPr>
      </p:sp>
      <p:sp>
        <p:nvSpPr>
          <p:cNvPr id="21" name="Shape 19"/>
          <p:cNvSpPr/>
          <p:nvPr/>
        </p:nvSpPr>
        <p:spPr>
          <a:xfrm>
            <a:off x="777240" y="5161788"/>
            <a:ext cx="347472" cy="347472"/>
          </a:xfrm>
          <a:prstGeom prst="ellipse">
            <a:avLst/>
          </a:prstGeom>
          <a:solidFill>
            <a:srgbClr val="C9932E"/>
          </a:solidFill>
          <a:ln/>
        </p:spPr>
      </p:sp>
      <p:sp>
        <p:nvSpPr>
          <p:cNvPr id="22" name="Text 20"/>
          <p:cNvSpPr txBox="1"/>
          <p:nvPr/>
        </p:nvSpPr>
        <p:spPr>
          <a:xfrm>
            <a:off x="777240" y="51617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1280160" y="4855464"/>
            <a:ext cx="4343400" cy="960120"/>
          </a:xfrm>
          <a:prstGeom prst="rect">
            <a:avLst/>
          </a:prstGeom>
          <a:noFill/>
          <a:ln/>
        </p:spPr>
        <p:txBody>
          <a:bodyPr wrap="square" lIns="0" tIns="0" rIns="0" bIns="0" rtlCol="0" anchor="ctr"/>
          <a:lstStyle/>
          <a:p>
            <a:pPr indent="0" marL="0">
              <a:lnSpc>
                <a:spcPct val="120000"/>
              </a:lnSpc>
              <a:buNone/>
            </a:pPr>
            <a:r>
              <a:rPr lang="en-US" sz="1250" dirty="0">
                <a:solidFill>
                  <a:srgbClr val="262229"/>
                </a:solidFill>
                <a:latin typeface="Calibri" pitchFamily="34" charset="0"/>
                <a:ea typeface="Calibri" pitchFamily="34" charset="-122"/>
                <a:cs typeface="Calibri" pitchFamily="34" charset="-120"/>
              </a:rPr>
              <a:t>Exposure to academic research methodology under expert guidance</a:t>
            </a:r>
            <a:endParaRPr lang="en-US" sz="1250" dirty="0"/>
          </a:p>
        </p:txBody>
      </p:sp>
      <p:sp>
        <p:nvSpPr>
          <p:cNvPr id="24" name="Shape 22"/>
          <p:cNvSpPr/>
          <p:nvPr/>
        </p:nvSpPr>
        <p:spPr>
          <a:xfrm>
            <a:off x="6217920" y="4718304"/>
            <a:ext cx="5349240" cy="1234440"/>
          </a:xfrm>
          <a:prstGeom prst="rect">
            <a:avLst/>
          </a:prstGeom>
          <a:solidFill>
            <a:srgbClr val="F7F4F2"/>
          </a:solidFill>
          <a:ln w="12700">
            <a:solidFill>
              <a:srgbClr val="E7E1DD"/>
            </a:solidFill>
            <a:prstDash val="solid"/>
          </a:ln>
        </p:spPr>
      </p:sp>
      <p:sp>
        <p:nvSpPr>
          <p:cNvPr id="25" name="Shape 23"/>
          <p:cNvSpPr/>
          <p:nvPr/>
        </p:nvSpPr>
        <p:spPr>
          <a:xfrm>
            <a:off x="6446520" y="5161788"/>
            <a:ext cx="347472" cy="347472"/>
          </a:xfrm>
          <a:prstGeom prst="ellipse">
            <a:avLst/>
          </a:prstGeom>
          <a:solidFill>
            <a:srgbClr val="C9932E"/>
          </a:solidFill>
          <a:ln/>
        </p:spPr>
      </p:sp>
      <p:sp>
        <p:nvSpPr>
          <p:cNvPr id="26" name="Text 24"/>
          <p:cNvSpPr txBox="1"/>
          <p:nvPr/>
        </p:nvSpPr>
        <p:spPr>
          <a:xfrm>
            <a:off x="6446520" y="51617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6949440" y="4855464"/>
            <a:ext cx="4343400" cy="960120"/>
          </a:xfrm>
          <a:prstGeom prst="rect">
            <a:avLst/>
          </a:prstGeom>
          <a:noFill/>
          <a:ln/>
        </p:spPr>
        <p:txBody>
          <a:bodyPr wrap="square" lIns="0" tIns="0" rIns="0" bIns="0" rtlCol="0" anchor="ctr"/>
          <a:lstStyle/>
          <a:p>
            <a:pPr indent="0" marL="0">
              <a:lnSpc>
                <a:spcPct val="120000"/>
              </a:lnSpc>
              <a:buNone/>
            </a:pPr>
            <a:r>
              <a:rPr lang="en-US" sz="1250" dirty="0">
                <a:solidFill>
                  <a:srgbClr val="262229"/>
                </a:solidFill>
                <a:latin typeface="Calibri" pitchFamily="34" charset="0"/>
                <a:ea typeface="Calibri" pitchFamily="34" charset="-122"/>
                <a:cs typeface="Calibri" pitchFamily="34" charset="-120"/>
              </a:rPr>
              <a:t>Stronger foundation for advanced AI/ML coursework and projects</a:t>
            </a:r>
            <a:endParaRPr lang="en-US" sz="1250" dirty="0"/>
          </a:p>
        </p:txBody>
      </p:sp>
      <p:sp>
        <p:nvSpPr>
          <p:cNvPr id="28" name="Text 26"/>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6F6774"/>
                </a:solidFill>
                <a:latin typeface="Calibri" pitchFamily="34" charset="0"/>
                <a:ea typeface="Calibri" pitchFamily="34" charset="-122"/>
                <a:cs typeface="Calibri" pitchFamily="34" charset="-120"/>
              </a:rPr>
              <a:t>Artificial Neural Network and its Application</a:t>
            </a:r>
            <a:endParaRPr lang="en-US" sz="900" dirty="0"/>
          </a:p>
        </p:txBody>
      </p:sp>
      <p:sp>
        <p:nvSpPr>
          <p:cNvPr id="29" name="Text 27"/>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6F677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D2645"/>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274320"/>
          </a:xfrm>
          <a:prstGeom prst="rect">
            <a:avLst/>
          </a:prstGeom>
          <a:noFill/>
          <a:ln/>
        </p:spPr>
        <p:txBody>
          <a:bodyPr wrap="square" lIns="0" tIns="0" rIns="0" bIns="0" rtlCol="0" anchor="ctr"/>
          <a:lstStyle/>
          <a:p>
            <a:pPr indent="0" marL="0">
              <a:buNone/>
            </a:pPr>
            <a:r>
              <a:rPr lang="en-US" sz="1200" b="1" spc="200" kern="0" dirty="0">
                <a:solidFill>
                  <a:srgbClr val="C9932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1051560"/>
            <a:ext cx="11064240" cy="1920240"/>
          </a:xfrm>
          <a:prstGeom prst="rect">
            <a:avLst/>
          </a:prstGeom>
          <a:noFill/>
          <a:ln/>
        </p:spPr>
        <p:txBody>
          <a:bodyPr wrap="square" lIns="0" tIns="0" rIns="0" bIns="0" rtlCol="0" anchor="t"/>
          <a:lstStyle/>
          <a:p>
            <a:pPr indent="0" marL="0">
              <a:lnSpc>
                <a:spcPct val="135000"/>
              </a:lnSpc>
              <a:buNone/>
            </a:pPr>
            <a:r>
              <a:rPr lang="en-US" sz="1900" dirty="0">
                <a:solidFill>
                  <a:srgbClr val="FFFFFF"/>
                </a:solidFill>
                <a:latin typeface="Cambria" pitchFamily="34" charset="0"/>
                <a:ea typeface="Cambria" pitchFamily="34" charset="-122"/>
                <a:cs typeface="Cambria" pitchFamily="34" charset="-120"/>
              </a:rPr>
              <a:t>This internship provided a strong foundation in Artificial Neural Networks — from biological inspiration to hands-on implementation of forward propagation and backpropagation. Beyond the technical skills, it strengthened problem-solving ability and research thinking, both of which will support future work in Artificial Intelligence and Machine Learning.</a:t>
            </a:r>
            <a:endParaRPr lang="en-US" sz="1900" dirty="0"/>
          </a:p>
        </p:txBody>
      </p:sp>
      <p:sp>
        <p:nvSpPr>
          <p:cNvPr id="4" name="Text 2"/>
          <p:cNvSpPr txBox="1"/>
          <p:nvPr/>
        </p:nvSpPr>
        <p:spPr>
          <a:xfrm>
            <a:off x="548640" y="4114800"/>
            <a:ext cx="3520440" cy="914400"/>
          </a:xfrm>
          <a:prstGeom prst="rect">
            <a:avLst/>
          </a:prstGeom>
          <a:noFill/>
          <a:ln/>
        </p:spPr>
        <p:txBody>
          <a:bodyPr wrap="square" lIns="0" tIns="0" rIns="0" bIns="0" rtlCol="0" anchor="ctr"/>
          <a:lstStyle/>
          <a:p>
            <a:pPr algn="ctr" indent="0" marL="0">
              <a:buNone/>
            </a:pPr>
            <a:r>
              <a:rPr lang="en-US" sz="5200" b="1" dirty="0">
                <a:solidFill>
                  <a:srgbClr val="C9932E"/>
                </a:solidFill>
                <a:latin typeface="Cambria" pitchFamily="34" charset="0"/>
                <a:ea typeface="Cambria" pitchFamily="34" charset="-122"/>
                <a:cs typeface="Cambria" pitchFamily="34" charset="-120"/>
              </a:rPr>
              <a:t>8</a:t>
            </a:r>
            <a:endParaRPr lang="en-US" sz="5200" dirty="0"/>
          </a:p>
        </p:txBody>
      </p:sp>
      <p:sp>
        <p:nvSpPr>
          <p:cNvPr id="5" name="Text 3"/>
          <p:cNvSpPr txBox="1"/>
          <p:nvPr/>
        </p:nvSpPr>
        <p:spPr>
          <a:xfrm>
            <a:off x="548640" y="5074920"/>
            <a:ext cx="3520440" cy="457200"/>
          </a:xfrm>
          <a:prstGeom prst="rect">
            <a:avLst/>
          </a:prstGeom>
          <a:noFill/>
          <a:ln/>
        </p:spPr>
        <p:txBody>
          <a:bodyPr wrap="square" lIns="0" tIns="0" rIns="0" bIns="0" rtlCol="0" anchor="ctr"/>
          <a:lstStyle/>
          <a:p>
            <a:pPr algn="ctr" indent="0" marL="0">
              <a:buNone/>
            </a:pPr>
            <a:r>
              <a:rPr lang="en-US" sz="1300" dirty="0">
                <a:solidFill>
                  <a:srgbClr val="D9CADF"/>
                </a:solidFill>
                <a:latin typeface="Calibri" pitchFamily="34" charset="0"/>
                <a:ea typeface="Calibri" pitchFamily="34" charset="-122"/>
                <a:cs typeface="Calibri" pitchFamily="34" charset="-120"/>
              </a:rPr>
              <a:t>Weeks of Research</a:t>
            </a:r>
            <a:endParaRPr lang="en-US" sz="1300" dirty="0"/>
          </a:p>
        </p:txBody>
      </p:sp>
      <p:sp>
        <p:nvSpPr>
          <p:cNvPr id="6" name="Text 4"/>
          <p:cNvSpPr txBox="1"/>
          <p:nvPr/>
        </p:nvSpPr>
        <p:spPr>
          <a:xfrm>
            <a:off x="4343400" y="4114800"/>
            <a:ext cx="3520440" cy="914400"/>
          </a:xfrm>
          <a:prstGeom prst="rect">
            <a:avLst/>
          </a:prstGeom>
          <a:noFill/>
          <a:ln/>
        </p:spPr>
        <p:txBody>
          <a:bodyPr wrap="square" lIns="0" tIns="0" rIns="0" bIns="0" rtlCol="0" anchor="ctr"/>
          <a:lstStyle/>
          <a:p>
            <a:pPr algn="ctr" indent="0" marL="0">
              <a:buNone/>
            </a:pPr>
            <a:r>
              <a:rPr lang="en-US" sz="5200" b="1" dirty="0">
                <a:solidFill>
                  <a:srgbClr val="C9932E"/>
                </a:solidFill>
                <a:latin typeface="Cambria" pitchFamily="34" charset="0"/>
                <a:ea typeface="Cambria" pitchFamily="34" charset="-122"/>
                <a:cs typeface="Cambria" pitchFamily="34" charset="-120"/>
              </a:rPr>
              <a:t>4</a:t>
            </a:r>
            <a:endParaRPr lang="en-US" sz="5200" dirty="0"/>
          </a:p>
        </p:txBody>
      </p:sp>
      <p:sp>
        <p:nvSpPr>
          <p:cNvPr id="7" name="Text 5"/>
          <p:cNvSpPr txBox="1"/>
          <p:nvPr/>
        </p:nvSpPr>
        <p:spPr>
          <a:xfrm>
            <a:off x="4343400" y="5074920"/>
            <a:ext cx="3520440" cy="457200"/>
          </a:xfrm>
          <a:prstGeom prst="rect">
            <a:avLst/>
          </a:prstGeom>
          <a:noFill/>
          <a:ln/>
        </p:spPr>
        <p:txBody>
          <a:bodyPr wrap="square" lIns="0" tIns="0" rIns="0" bIns="0" rtlCol="0" anchor="ctr"/>
          <a:lstStyle/>
          <a:p>
            <a:pPr algn="ctr" indent="0" marL="0">
              <a:buNone/>
            </a:pPr>
            <a:r>
              <a:rPr lang="en-US" sz="1300" dirty="0">
                <a:solidFill>
                  <a:srgbClr val="D9CADF"/>
                </a:solidFill>
                <a:latin typeface="Calibri" pitchFamily="34" charset="0"/>
                <a:ea typeface="Calibri" pitchFamily="34" charset="-122"/>
                <a:cs typeface="Calibri" pitchFamily="34" charset="-120"/>
              </a:rPr>
              <a:t>ANN Concepts Mastered</a:t>
            </a:r>
            <a:endParaRPr lang="en-US" sz="1300" dirty="0"/>
          </a:p>
        </p:txBody>
      </p:sp>
      <p:sp>
        <p:nvSpPr>
          <p:cNvPr id="8" name="Text 6"/>
          <p:cNvSpPr txBox="1"/>
          <p:nvPr/>
        </p:nvSpPr>
        <p:spPr>
          <a:xfrm>
            <a:off x="8138160" y="4114800"/>
            <a:ext cx="3520440" cy="914400"/>
          </a:xfrm>
          <a:prstGeom prst="rect">
            <a:avLst/>
          </a:prstGeom>
          <a:noFill/>
          <a:ln/>
        </p:spPr>
        <p:txBody>
          <a:bodyPr wrap="square" lIns="0" tIns="0" rIns="0" bIns="0" rtlCol="0" anchor="ctr"/>
          <a:lstStyle/>
          <a:p>
            <a:pPr algn="ctr" indent="0" marL="0">
              <a:buNone/>
            </a:pPr>
            <a:r>
              <a:rPr lang="en-US" sz="5200" b="1" dirty="0">
                <a:solidFill>
                  <a:srgbClr val="C9932E"/>
                </a:solidFill>
                <a:latin typeface="Cambria" pitchFamily="34" charset="0"/>
                <a:ea typeface="Cambria" pitchFamily="34" charset="-122"/>
                <a:cs typeface="Cambria" pitchFamily="34" charset="-120"/>
              </a:rPr>
              <a:t>3+</a:t>
            </a:r>
            <a:endParaRPr lang="en-US" sz="5200" dirty="0"/>
          </a:p>
        </p:txBody>
      </p:sp>
      <p:sp>
        <p:nvSpPr>
          <p:cNvPr id="9" name="Text 7"/>
          <p:cNvSpPr txBox="1"/>
          <p:nvPr/>
        </p:nvSpPr>
        <p:spPr>
          <a:xfrm>
            <a:off x="8138160" y="5074920"/>
            <a:ext cx="3520440" cy="457200"/>
          </a:xfrm>
          <a:prstGeom prst="rect">
            <a:avLst/>
          </a:prstGeom>
          <a:noFill/>
          <a:ln/>
        </p:spPr>
        <p:txBody>
          <a:bodyPr wrap="square" lIns="0" tIns="0" rIns="0" bIns="0" rtlCol="0" anchor="ctr"/>
          <a:lstStyle/>
          <a:p>
            <a:pPr algn="ctr" indent="0" marL="0">
              <a:buNone/>
            </a:pPr>
            <a:r>
              <a:rPr lang="en-US" sz="1300" dirty="0">
                <a:solidFill>
                  <a:srgbClr val="D9CADF"/>
                </a:solidFill>
                <a:latin typeface="Calibri" pitchFamily="34" charset="0"/>
                <a:ea typeface="Calibri" pitchFamily="34" charset="-122"/>
                <a:cs typeface="Calibri" pitchFamily="34" charset="-120"/>
              </a:rPr>
              <a:t>Real-world Applications Explored</a:t>
            </a:r>
            <a:endParaRPr lang="en-US" sz="1300" dirty="0"/>
          </a:p>
        </p:txBody>
      </p:sp>
      <p:sp>
        <p:nvSpPr>
          <p:cNvPr id="10" name="Text 8"/>
          <p:cNvSpPr txBox="1"/>
          <p:nvPr/>
        </p:nvSpPr>
        <p:spPr>
          <a:xfrm>
            <a:off x="457200" y="6547104"/>
            <a:ext cx="7315200" cy="256032"/>
          </a:xfrm>
          <a:prstGeom prst="rect">
            <a:avLst/>
          </a:prstGeom>
          <a:noFill/>
          <a:ln/>
        </p:spPr>
        <p:txBody>
          <a:bodyPr wrap="square" lIns="0" tIns="0" rIns="0" bIns="0" rtlCol="0" anchor="ctr"/>
          <a:lstStyle/>
          <a:p>
            <a:pPr indent="0" marL="0">
              <a:buNone/>
            </a:pPr>
            <a:r>
              <a:rPr lang="en-US" sz="900" i="1" dirty="0">
                <a:solidFill>
                  <a:srgbClr val="C9B9CE"/>
                </a:solidFill>
                <a:latin typeface="Calibri" pitchFamily="34" charset="0"/>
                <a:ea typeface="Calibri" pitchFamily="34" charset="-122"/>
                <a:cs typeface="Calibri" pitchFamily="34" charset="-120"/>
              </a:rPr>
              <a:t>Artificial Neural Network and its Application</a:t>
            </a:r>
            <a:endParaRPr lang="en-US" sz="900" dirty="0"/>
          </a:p>
        </p:txBody>
      </p:sp>
      <p:sp>
        <p:nvSpPr>
          <p:cNvPr id="11" name="Text 9"/>
          <p:cNvSpPr txBox="1"/>
          <p:nvPr/>
        </p:nvSpPr>
        <p:spPr>
          <a:xfrm>
            <a:off x="11521440" y="6547104"/>
            <a:ext cx="365760" cy="256032"/>
          </a:xfrm>
          <a:prstGeom prst="rect">
            <a:avLst/>
          </a:prstGeom>
          <a:noFill/>
          <a:ln/>
        </p:spPr>
        <p:txBody>
          <a:bodyPr wrap="square" lIns="0" tIns="0" rIns="0" bIns="0" rtlCol="0" anchor="ctr"/>
          <a:lstStyle/>
          <a:p>
            <a:pPr algn="r" indent="0" marL="0">
              <a:buNone/>
            </a:pPr>
            <a:r>
              <a:rPr lang="en-US" sz="900" dirty="0">
                <a:solidFill>
                  <a:srgbClr val="C9B9C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D2645"/>
        </a:solidFill>
      </p:bgPr>
    </p:bg>
    <p:spTree>
      <p:nvGrpSpPr>
        <p:cNvPr id="1" name=""/>
        <p:cNvGrpSpPr/>
        <p:nvPr/>
      </p:nvGrpSpPr>
      <p:grpSpPr>
        <a:xfrm>
          <a:off x="0" y="0"/>
          <a:ext cx="0" cy="0"/>
          <a:chOff x="0" y="0"/>
          <a:chExt cx="0" cy="0"/>
        </a:xfrm>
      </p:grpSpPr>
      <p:sp>
        <p:nvSpPr>
          <p:cNvPr id="2" name="Shape 0"/>
          <p:cNvSpPr/>
          <p:nvPr/>
        </p:nvSpPr>
        <p:spPr>
          <a:xfrm flipV="1">
            <a:off x="658368" y="592531"/>
            <a:ext cx="658368" cy="285293"/>
          </a:xfrm>
          <a:prstGeom prst="line">
            <a:avLst/>
          </a:prstGeom>
          <a:noFill/>
          <a:ln w="9525">
            <a:solidFill>
              <a:srgbClr val="E8C978">
                <a:alpha val="70000"/>
              </a:srgbClr>
            </a:solidFill>
            <a:prstDash val="solid"/>
          </a:ln>
        </p:spPr>
      </p:sp>
      <p:sp>
        <p:nvSpPr>
          <p:cNvPr id="3" name="Shape 1"/>
          <p:cNvSpPr/>
          <p:nvPr/>
        </p:nvSpPr>
        <p:spPr>
          <a:xfrm>
            <a:off x="1316736" y="592531"/>
            <a:ext cx="768096" cy="395021"/>
          </a:xfrm>
          <a:prstGeom prst="line">
            <a:avLst/>
          </a:prstGeom>
          <a:noFill/>
          <a:ln w="9525">
            <a:solidFill>
              <a:srgbClr val="E8C978">
                <a:alpha val="70000"/>
              </a:srgbClr>
            </a:solidFill>
            <a:prstDash val="solid"/>
          </a:ln>
        </p:spPr>
      </p:sp>
      <p:sp>
        <p:nvSpPr>
          <p:cNvPr id="4" name="Shape 2"/>
          <p:cNvSpPr/>
          <p:nvPr/>
        </p:nvSpPr>
        <p:spPr>
          <a:xfrm flipV="1">
            <a:off x="2084832" y="658368"/>
            <a:ext cx="438912" cy="329184"/>
          </a:xfrm>
          <a:prstGeom prst="line">
            <a:avLst/>
          </a:prstGeom>
          <a:noFill/>
          <a:ln w="9525">
            <a:solidFill>
              <a:srgbClr val="E8C978">
                <a:alpha val="70000"/>
              </a:srgbClr>
            </a:solidFill>
            <a:prstDash val="solid"/>
          </a:ln>
        </p:spPr>
      </p:sp>
      <p:sp>
        <p:nvSpPr>
          <p:cNvPr id="5" name="Shape 3"/>
          <p:cNvSpPr/>
          <p:nvPr/>
        </p:nvSpPr>
        <p:spPr>
          <a:xfrm>
            <a:off x="658368" y="877824"/>
            <a:ext cx="219456" cy="877824"/>
          </a:xfrm>
          <a:prstGeom prst="line">
            <a:avLst/>
          </a:prstGeom>
          <a:noFill/>
          <a:ln w="9525">
            <a:solidFill>
              <a:srgbClr val="E8C978">
                <a:alpha val="70000"/>
              </a:srgbClr>
            </a:solidFill>
            <a:prstDash val="solid"/>
          </a:ln>
        </p:spPr>
      </p:sp>
      <p:sp>
        <p:nvSpPr>
          <p:cNvPr id="6" name="Shape 4"/>
          <p:cNvSpPr/>
          <p:nvPr/>
        </p:nvSpPr>
        <p:spPr>
          <a:xfrm>
            <a:off x="1316736" y="592531"/>
            <a:ext cx="329184" cy="943661"/>
          </a:xfrm>
          <a:prstGeom prst="line">
            <a:avLst/>
          </a:prstGeom>
          <a:noFill/>
          <a:ln w="9525">
            <a:solidFill>
              <a:srgbClr val="E8C978">
                <a:alpha val="70000"/>
              </a:srgbClr>
            </a:solidFill>
            <a:prstDash val="solid"/>
          </a:ln>
        </p:spPr>
      </p:sp>
      <p:sp>
        <p:nvSpPr>
          <p:cNvPr id="7" name="Shape 5"/>
          <p:cNvSpPr/>
          <p:nvPr/>
        </p:nvSpPr>
        <p:spPr>
          <a:xfrm flipH="1">
            <a:off x="1645920" y="987552"/>
            <a:ext cx="438912" cy="548640"/>
          </a:xfrm>
          <a:prstGeom prst="line">
            <a:avLst/>
          </a:prstGeom>
          <a:noFill/>
          <a:ln w="9525">
            <a:solidFill>
              <a:srgbClr val="E8C978">
                <a:alpha val="70000"/>
              </a:srgbClr>
            </a:solidFill>
            <a:prstDash val="solid"/>
          </a:ln>
        </p:spPr>
      </p:sp>
      <p:sp>
        <p:nvSpPr>
          <p:cNvPr id="8" name="Shape 6"/>
          <p:cNvSpPr/>
          <p:nvPr/>
        </p:nvSpPr>
        <p:spPr>
          <a:xfrm flipH="1">
            <a:off x="2414016" y="658368"/>
            <a:ext cx="109728" cy="987552"/>
          </a:xfrm>
          <a:prstGeom prst="line">
            <a:avLst/>
          </a:prstGeom>
          <a:noFill/>
          <a:ln w="9525">
            <a:solidFill>
              <a:srgbClr val="E8C978">
                <a:alpha val="70000"/>
              </a:srgbClr>
            </a:solidFill>
            <a:prstDash val="solid"/>
          </a:ln>
        </p:spPr>
      </p:sp>
      <p:sp>
        <p:nvSpPr>
          <p:cNvPr id="9" name="Shape 7"/>
          <p:cNvSpPr/>
          <p:nvPr/>
        </p:nvSpPr>
        <p:spPr>
          <a:xfrm flipV="1">
            <a:off x="877824" y="1536192"/>
            <a:ext cx="768096" cy="219456"/>
          </a:xfrm>
          <a:prstGeom prst="line">
            <a:avLst/>
          </a:prstGeom>
          <a:noFill/>
          <a:ln w="9525">
            <a:solidFill>
              <a:srgbClr val="E8C978">
                <a:alpha val="70000"/>
              </a:srgbClr>
            </a:solidFill>
            <a:prstDash val="solid"/>
          </a:ln>
        </p:spPr>
      </p:sp>
      <p:sp>
        <p:nvSpPr>
          <p:cNvPr id="10" name="Shape 8"/>
          <p:cNvSpPr/>
          <p:nvPr/>
        </p:nvSpPr>
        <p:spPr>
          <a:xfrm>
            <a:off x="1645920" y="1536192"/>
            <a:ext cx="768096" cy="109728"/>
          </a:xfrm>
          <a:prstGeom prst="line">
            <a:avLst/>
          </a:prstGeom>
          <a:noFill/>
          <a:ln w="9525">
            <a:solidFill>
              <a:srgbClr val="E8C978">
                <a:alpha val="70000"/>
              </a:srgbClr>
            </a:solidFill>
            <a:prstDash val="solid"/>
          </a:ln>
        </p:spPr>
      </p:sp>
      <p:sp>
        <p:nvSpPr>
          <p:cNvPr id="11" name="Shape 9"/>
          <p:cNvSpPr/>
          <p:nvPr/>
        </p:nvSpPr>
        <p:spPr>
          <a:xfrm>
            <a:off x="877824" y="1755648"/>
            <a:ext cx="329184" cy="658368"/>
          </a:xfrm>
          <a:prstGeom prst="line">
            <a:avLst/>
          </a:prstGeom>
          <a:noFill/>
          <a:ln w="9525">
            <a:solidFill>
              <a:srgbClr val="E8C978">
                <a:alpha val="70000"/>
              </a:srgbClr>
            </a:solidFill>
            <a:prstDash val="solid"/>
          </a:ln>
        </p:spPr>
      </p:sp>
      <p:sp>
        <p:nvSpPr>
          <p:cNvPr id="12" name="Shape 10"/>
          <p:cNvSpPr/>
          <p:nvPr/>
        </p:nvSpPr>
        <p:spPr>
          <a:xfrm>
            <a:off x="1645920" y="1536192"/>
            <a:ext cx="329184" cy="987552"/>
          </a:xfrm>
          <a:prstGeom prst="line">
            <a:avLst/>
          </a:prstGeom>
          <a:noFill/>
          <a:ln w="9525">
            <a:solidFill>
              <a:srgbClr val="E8C978">
                <a:alpha val="70000"/>
              </a:srgbClr>
            </a:solidFill>
            <a:prstDash val="solid"/>
          </a:ln>
        </p:spPr>
      </p:sp>
      <p:sp>
        <p:nvSpPr>
          <p:cNvPr id="13" name="Shape 11"/>
          <p:cNvSpPr/>
          <p:nvPr/>
        </p:nvSpPr>
        <p:spPr>
          <a:xfrm flipH="1">
            <a:off x="1975104" y="1645920"/>
            <a:ext cx="438912" cy="877824"/>
          </a:xfrm>
          <a:prstGeom prst="line">
            <a:avLst/>
          </a:prstGeom>
          <a:noFill/>
          <a:ln w="9525">
            <a:solidFill>
              <a:srgbClr val="E8C978">
                <a:alpha val="70000"/>
              </a:srgbClr>
            </a:solidFill>
            <a:prstDash val="solid"/>
          </a:ln>
        </p:spPr>
      </p:sp>
      <p:sp>
        <p:nvSpPr>
          <p:cNvPr id="14" name="Shape 12"/>
          <p:cNvSpPr/>
          <p:nvPr/>
        </p:nvSpPr>
        <p:spPr>
          <a:xfrm>
            <a:off x="1207008" y="2414016"/>
            <a:ext cx="768096" cy="109728"/>
          </a:xfrm>
          <a:prstGeom prst="line">
            <a:avLst/>
          </a:prstGeom>
          <a:noFill/>
          <a:ln w="9525">
            <a:solidFill>
              <a:srgbClr val="E8C978">
                <a:alpha val="70000"/>
              </a:srgbClr>
            </a:solidFill>
            <a:prstDash val="solid"/>
          </a:ln>
        </p:spPr>
      </p:sp>
      <p:sp>
        <p:nvSpPr>
          <p:cNvPr id="15" name="Shape 13"/>
          <p:cNvSpPr/>
          <p:nvPr/>
        </p:nvSpPr>
        <p:spPr>
          <a:xfrm>
            <a:off x="617220" y="836676"/>
            <a:ext cx="82296" cy="82296"/>
          </a:xfrm>
          <a:prstGeom prst="ellipse">
            <a:avLst/>
          </a:prstGeom>
          <a:solidFill>
            <a:srgbClr val="E8C978"/>
          </a:solidFill>
          <a:ln/>
        </p:spPr>
      </p:sp>
      <p:sp>
        <p:nvSpPr>
          <p:cNvPr id="16" name="Shape 14"/>
          <p:cNvSpPr/>
          <p:nvPr/>
        </p:nvSpPr>
        <p:spPr>
          <a:xfrm>
            <a:off x="1275588" y="551383"/>
            <a:ext cx="82296" cy="82296"/>
          </a:xfrm>
          <a:prstGeom prst="ellipse">
            <a:avLst/>
          </a:prstGeom>
          <a:solidFill>
            <a:srgbClr val="E8C978"/>
          </a:solidFill>
          <a:ln/>
        </p:spPr>
      </p:sp>
      <p:sp>
        <p:nvSpPr>
          <p:cNvPr id="17" name="Shape 15"/>
          <p:cNvSpPr/>
          <p:nvPr/>
        </p:nvSpPr>
        <p:spPr>
          <a:xfrm>
            <a:off x="2043684" y="946404"/>
            <a:ext cx="82296" cy="82296"/>
          </a:xfrm>
          <a:prstGeom prst="ellipse">
            <a:avLst/>
          </a:prstGeom>
          <a:solidFill>
            <a:srgbClr val="E8C978"/>
          </a:solidFill>
          <a:ln/>
        </p:spPr>
      </p:sp>
      <p:sp>
        <p:nvSpPr>
          <p:cNvPr id="18" name="Shape 16"/>
          <p:cNvSpPr/>
          <p:nvPr/>
        </p:nvSpPr>
        <p:spPr>
          <a:xfrm>
            <a:off x="2482596" y="617220"/>
            <a:ext cx="82296" cy="82296"/>
          </a:xfrm>
          <a:prstGeom prst="ellipse">
            <a:avLst/>
          </a:prstGeom>
          <a:solidFill>
            <a:srgbClr val="E8C978"/>
          </a:solidFill>
          <a:ln/>
        </p:spPr>
      </p:sp>
      <p:sp>
        <p:nvSpPr>
          <p:cNvPr id="19" name="Shape 17"/>
          <p:cNvSpPr/>
          <p:nvPr/>
        </p:nvSpPr>
        <p:spPr>
          <a:xfrm>
            <a:off x="836676" y="1714500"/>
            <a:ext cx="82296" cy="82296"/>
          </a:xfrm>
          <a:prstGeom prst="ellipse">
            <a:avLst/>
          </a:prstGeom>
          <a:solidFill>
            <a:srgbClr val="E8C978"/>
          </a:solidFill>
          <a:ln/>
        </p:spPr>
      </p:sp>
      <p:sp>
        <p:nvSpPr>
          <p:cNvPr id="20" name="Shape 18"/>
          <p:cNvSpPr/>
          <p:nvPr/>
        </p:nvSpPr>
        <p:spPr>
          <a:xfrm>
            <a:off x="1604772" y="1495044"/>
            <a:ext cx="82296" cy="82296"/>
          </a:xfrm>
          <a:prstGeom prst="ellipse">
            <a:avLst/>
          </a:prstGeom>
          <a:solidFill>
            <a:srgbClr val="E8C978"/>
          </a:solidFill>
          <a:ln/>
        </p:spPr>
      </p:sp>
      <p:sp>
        <p:nvSpPr>
          <p:cNvPr id="21" name="Shape 19"/>
          <p:cNvSpPr/>
          <p:nvPr/>
        </p:nvSpPr>
        <p:spPr>
          <a:xfrm>
            <a:off x="2372868" y="1604772"/>
            <a:ext cx="82296" cy="82296"/>
          </a:xfrm>
          <a:prstGeom prst="ellipse">
            <a:avLst/>
          </a:prstGeom>
          <a:solidFill>
            <a:srgbClr val="E8C978"/>
          </a:solidFill>
          <a:ln/>
        </p:spPr>
      </p:sp>
      <p:sp>
        <p:nvSpPr>
          <p:cNvPr id="22" name="Shape 20"/>
          <p:cNvSpPr/>
          <p:nvPr/>
        </p:nvSpPr>
        <p:spPr>
          <a:xfrm>
            <a:off x="1165860" y="2372868"/>
            <a:ext cx="82296" cy="82296"/>
          </a:xfrm>
          <a:prstGeom prst="ellipse">
            <a:avLst/>
          </a:prstGeom>
          <a:solidFill>
            <a:srgbClr val="E8C978"/>
          </a:solidFill>
          <a:ln/>
        </p:spPr>
      </p:sp>
      <p:sp>
        <p:nvSpPr>
          <p:cNvPr id="23" name="Shape 21"/>
          <p:cNvSpPr/>
          <p:nvPr/>
        </p:nvSpPr>
        <p:spPr>
          <a:xfrm>
            <a:off x="1933956" y="2482596"/>
            <a:ext cx="82296" cy="82296"/>
          </a:xfrm>
          <a:prstGeom prst="ellipse">
            <a:avLst/>
          </a:prstGeom>
          <a:solidFill>
            <a:srgbClr val="E8C978"/>
          </a:solidFill>
          <a:ln/>
        </p:spPr>
      </p:sp>
      <p:pic>
        <p:nvPicPr>
          <p:cNvPr id="24" name="Image 0" descr="/home/claude/work/assets/logo.png">    </p:cNvPr>
          <p:cNvPicPr>
            <a:picLocks noChangeAspect="1"/>
          </p:cNvPicPr>
          <p:nvPr/>
        </p:nvPicPr>
        <p:blipFill>
          <a:blip r:embed="rId1"/>
          <a:stretch>
            <a:fillRect/>
          </a:stretch>
        </p:blipFill>
        <p:spPr>
          <a:xfrm>
            <a:off x="5730088" y="2331720"/>
            <a:ext cx="731520" cy="850392"/>
          </a:xfrm>
          <a:prstGeom prst="rect">
            <a:avLst/>
          </a:prstGeom>
        </p:spPr>
      </p:pic>
      <p:sp>
        <p:nvSpPr>
          <p:cNvPr id="25" name="Text 22"/>
          <p:cNvSpPr txBox="1"/>
          <p:nvPr/>
        </p:nvSpPr>
        <p:spPr>
          <a:xfrm>
            <a:off x="0" y="3383280"/>
            <a:ext cx="12191695"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26" name="Text 23"/>
          <p:cNvSpPr txBox="1"/>
          <p:nvPr/>
        </p:nvSpPr>
        <p:spPr>
          <a:xfrm>
            <a:off x="0" y="4114800"/>
            <a:ext cx="12191695" cy="365760"/>
          </a:xfrm>
          <a:prstGeom prst="rect">
            <a:avLst/>
          </a:prstGeom>
          <a:noFill/>
          <a:ln/>
        </p:spPr>
        <p:txBody>
          <a:bodyPr wrap="square" lIns="0" tIns="0" rIns="0" bIns="0" rtlCol="0" anchor="ctr"/>
          <a:lstStyle/>
          <a:p>
            <a:pPr algn="ctr" indent="0" marL="0">
              <a:buNone/>
            </a:pPr>
            <a:r>
              <a:rPr lang="en-US" sz="1500" dirty="0">
                <a:solidFill>
                  <a:srgbClr val="E8C978"/>
                </a:solidFill>
                <a:latin typeface="Calibri" pitchFamily="34" charset="0"/>
                <a:ea typeface="Calibri" pitchFamily="34" charset="-122"/>
                <a:cs typeface="Calibri" pitchFamily="34" charset="-120"/>
              </a:rPr>
              <a:t>Questions &amp; Discussion</a:t>
            </a:r>
            <a:endParaRPr lang="en-US" sz="1500" dirty="0"/>
          </a:p>
        </p:txBody>
      </p:sp>
      <p:sp>
        <p:nvSpPr>
          <p:cNvPr id="27" name="Text 24"/>
          <p:cNvSpPr txBox="1"/>
          <p:nvPr/>
        </p:nvSpPr>
        <p:spPr>
          <a:xfrm>
            <a:off x="0" y="6263640"/>
            <a:ext cx="12191695" cy="320040"/>
          </a:xfrm>
          <a:prstGeom prst="rect">
            <a:avLst/>
          </a:prstGeom>
          <a:noFill/>
          <a:ln/>
        </p:spPr>
        <p:txBody>
          <a:bodyPr wrap="square" lIns="0" tIns="0" rIns="0" bIns="0" rtlCol="0" anchor="ctr"/>
          <a:lstStyle/>
          <a:p>
            <a:pPr algn="ctr" indent="0" marL="0">
              <a:buNone/>
            </a:pPr>
            <a:r>
              <a:rPr lang="en-US" sz="1100" dirty="0">
                <a:solidFill>
                  <a:srgbClr val="C9B9CE"/>
                </a:solidFill>
                <a:latin typeface="Calibri" pitchFamily="34" charset="0"/>
                <a:ea typeface="Calibri" pitchFamily="34" charset="-122"/>
                <a:cs typeface="Calibri" pitchFamily="34" charset="-120"/>
              </a:rPr>
              <a:t>Arpit Raj Raghuvansi   |   2410031732   |   B.Tech CSE, 5th Sem   |   IILM University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2026-08-29T20:54:38Z</dcterms:created>
  <dcterms:modified xsi:type="dcterms:W3CDTF">2026-08-29T20:54:38Z</dcterms:modified>
</cp:coreProperties>
</file>